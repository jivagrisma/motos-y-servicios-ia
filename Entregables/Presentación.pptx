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4A5578"/>
                </a:solidFill>
                <a:latin typeface="Calibri"/>
              </a:defRPr>
            </a:pPr>
            <a:r>
              <a:rPr sz="1600" b="0" i="0" u="none" strike="noStrike">
                <a:solidFill>
                  <a:srgbClr val="4A5578"/>
                </a:solidFill>
                <a:latin typeface="Calibri"/>
              </a:rPr>
              <a:t>Tasa de cierre por banda de prioridad</a:t>
            </a:r>
          </a:p>
        </c:rich>
      </c:tx>
      <c:layout/>
      <c:overlay val="0"/>
    </c:title>
    <c:autoTitleDeleted val="0"/>
    <c:plotArea>
      <c:layout/>
      <c:barChart>
        <c:barDir val="col"/>
        <c:grouping val="clustered"/>
        <c:varyColors val="0"/>
        <c:ser>
          <c:idx val="0"/>
          <c:order val="0"/>
          <c:tx>
            <c:strRef>
              <c:f>Sheet1!$B$1</c:f>
              <c:strCache>
                <c:ptCount val="1"/>
                <c:pt idx="0">
                  <c:v>Tasa de cierre</c:v>
                </c:pt>
              </c:strCache>
            </c:strRef>
          </c:tx>
          <c:spPr>
            <a:solidFill>
              <a:srgbClr val="D64545"/>
            </a:solidFill>
            <a:effectLst/>
          </c:spPr>
          <c:invertIfNegative val="0"/>
          <c:dLbls>
            <c:numFmt formatCode="0.0&quot;%&quot;" sourceLinked="0"/>
            <c:txPr>
              <a:bodyPr/>
              <a:lstStyle/>
              <a:p>
                <a:pPr>
                  <a:defRPr b="0" i="0" strike="noStrike" sz="2000" u="none">
                    <a:solidFill>
                      <a:srgbClr val="15203D"/>
                    </a:solidFill>
                    <a:latin typeface="Calibri"/>
                  </a:defRPr>
                </a:pPr>
              </a:p>
            </c:txPr>
            <c:showLegendKey val="0"/>
            <c:showVal val="1"/>
            <c:showCatName val="0"/>
            <c:showSerName val="0"/>
            <c:showPercent val="0"/>
            <c:showBubbleSize val="0"/>
            <c:showLeaderLines val="0"/>
          </c:dLbls>
          <c:dPt>
            <c:idx val="0"/>
            <c:invertIfNegative val="0"/>
            <c:bubble3D val="0"/>
            <c:spPr>
              <a:solidFill>
                <a:srgbClr val="D64545"/>
              </a:solidFill>
              <a:effectLst/>
            </c:spPr>
          </c:dPt>
          <c:dPt>
            <c:idx val="1"/>
            <c:invertIfNegative val="0"/>
            <c:bubble3D val="0"/>
            <c:spPr>
              <a:solidFill>
                <a:srgbClr val="9AA5BD"/>
              </a:solidFill>
              <a:effectLst/>
            </c:spPr>
          </c:dPt>
          <c:dPt>
            <c:idx val="2"/>
            <c:invertIfNegative val="0"/>
            <c:bubble3D val="0"/>
            <c:spPr>
              <a:solidFill>
                <a:srgbClr val="15203D"/>
              </a:solidFill>
              <a:effectLst/>
            </c:spPr>
          </c:dPt>
          <c:cat>
            <c:multiLvlStrRef>
              <c:f>Sheet1!$A$2:$A$4</c:f>
              <c:multiLvlStrCache>
                <c:ptCount val="3"/>
                <c:lvl>
                  <c:pt idx="0">
                    <c:v>Alta</c:v>
                  </c:pt>
                  <c:pt idx="1">
                    <c:v>Media</c:v>
                  </c:pt>
                  <c:pt idx="2">
                    <c:v>Baja</c:v>
                  </c:pt>
                </c:lvl>
              </c:multiLvlStrCache>
            </c:multiLvlStrRef>
          </c:cat>
          <c:val>
            <c:numRef>
              <c:f>Sheet1!$B$2:$B$4</c:f>
              <c:numCache>
                <c:formatCode>General</c:formatCode>
                <c:ptCount val="3"/>
                <c:pt idx="0">
                  <c:v>13.43</c:v>
                </c:pt>
                <c:pt idx="1">
                  <c:v>7.97</c:v>
                </c:pt>
                <c:pt idx="2">
                  <c:v>5.38</c:v>
                </c:pt>
              </c:numCache>
            </c:numRef>
          </c:val>
        </c:ser>
        <c:dLbls>
          <c:numFmt formatCode="0.0&quot;%&quot;" sourceLinked="0"/>
          <c:txPr>
            <a:bodyPr/>
            <a:lstStyle/>
            <a:p>
              <a:pPr>
                <a:defRPr b="0" i="0" strike="noStrike" sz="2000" u="none">
                  <a:solidFill>
                    <a:srgbClr val="15203D"/>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5203D"/>
                </a:solidFill>
                <a:latin typeface="Calibri"/>
              </a:defRPr>
            </a:pPr>
            <a:endParaRPr lang="en-US"/>
          </a:p>
        </c:txPr>
        <c:crossAx val="2094734552"/>
        <c:crosses val="autoZero"/>
        <c:auto val="1"/>
        <c:lblAlgn val="ctr"/>
        <c:noMultiLvlLbl val="1"/>
      </c:catAx>
      <c:valAx>
        <c:axId val="2094734552"/>
        <c:scaling>
          <c:orientation val="minMax"/>
          <c:max val="16"/>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9FC"/>
        </a:solidFill>
        <a:ln>
          <a:noFill/>
        </a:ln>
        <a:effectLst/>
      </c:spPr>
    </c:plotArea>
    <c:plotVisOnly val="1"/>
    <c:dispBlanksAs val="span"/>
  </c:chart>
  <c:spPr>
    <a:solidFill>
      <a:srgbClr val="F7F9FC"/>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inicial. +3.000 leads/mes entran por orden de llegada; 4 de cada 10 no se tocan en 24h (ahí se pierden); menos de 1 de cada 10 gestionados cierra. La causa raíz: la señal de compra está en el chat de WhatsApp, no en el CRM.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etapas del pipeline: normalización de los 5 archivos fuente, extracción con IA del chat de WhatsApp, score explicable calibrado con 2.200 cierres históricos, y persistencia en base de datos aislada por empresa detrás de una API y una vista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resuelto con reglas documentadas y reproducibles: teléfono a formato E.164 (+57), fechas ambiguas resueltas por convención día-primero (Colombia), deduplicación solo dentro de cada empresa para no romper el aislamiento entre las 3 empresas del CRM compartido. Los 96 rechazos quedan visibles en el tablero de calidad con motivo.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Vertex AI gemini-2.5-flash con salida JSON de schema estricto, cero llaves gestionadas (ADC/service account). Si el LLM falla, hay un fallback por reglas (regex) con el mismo contrato de salida, para que el pipeline nunca se detenga. 665 conversaciones, todas resueltas por el LLM, ningún fallback usado en producción; 6 revisadas a mano, coherentes.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punto del score corresponde a un aumento real de probabilidad de cierre medido en 2.200 casos históricos: pidió cita +20 (10,9% vs 8,9% global), cuota inicial manifiesta +15, compra inmediata +15, contacto &lt;24h +15 (11,5% vs 6,8%), contado +10, multicanal +10, modelo concreto +10, WhatsApp +5. Backtest monótono: Alta 13,4% &gt; Media 8,0% &gt; Baja 5,4%. Frase para el cierre: si hoy solo alcanzas a llamar a 10, llama a los de banda 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Filtros por empresa y por asesor, teléfono a un toque, razones del score en español ('Pidió cita · Manifestó cuota inicial · Intención de compra inmediata'). Mobile-first porque el asesor la va a abrir desde el celular, no desde un escritorio.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CRM es compartido entre 3 empresas; la separación se prueba automáticamente (tests/test_bd.py), 0 fugas detectadas. Todo el pipeline corre con un solo comando o una sola llamada HTTP. Dos servicios independientes en Cloud Run (api y web) que escalan por separado, en un proyecto dedicado.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Fuera de alcance por decisión, no por olvido: auth real de asesores (el selector asume buena fe, MVP), reescribir al CRM productivo, citas/agenda en la UI. Cerrar recordando que el score explicable calibrado es más defendible ante el gerente que un modelo de caja negra con solo 2.200 filas.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03D"/>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457200"/>
          </a:xfrm>
          <a:prstGeom prst="rect">
            <a:avLst/>
          </a:prstGeom>
          <a:noFill/>
          <a:ln/>
        </p:spPr>
        <p:txBody>
          <a:bodyPr wrap="square" lIns="0" tIns="0" rIns="0" bIns="0" rtlCol="0" anchor="ctr"/>
          <a:lstStyle/>
          <a:p>
            <a:pPr indent="0" marL="0">
              <a:buNone/>
            </a:pPr>
            <a:r>
              <a:rPr lang="en-US" sz="1800" spc="300" kern="0" dirty="0">
                <a:solidFill>
                  <a:srgbClr val="CADCFC"/>
                </a:solidFill>
                <a:latin typeface="Calibri" pitchFamily="34" charset="0"/>
                <a:ea typeface="Calibri" pitchFamily="34" charset="-122"/>
                <a:cs typeface="Calibri" pitchFamily="34" charset="-120"/>
              </a:rPr>
              <a:t>EL PROBLEMA, EN 3 CIFRAS</a:t>
            </a:r>
            <a:endParaRPr lang="en-US" sz="1800" dirty="0"/>
          </a:p>
        </p:txBody>
      </p:sp>
      <p:sp>
        <p:nvSpPr>
          <p:cNvPr id="3" name="Text 1"/>
          <p:cNvSpPr txBox="1"/>
          <p:nvPr/>
        </p:nvSpPr>
        <p:spPr>
          <a:xfrm>
            <a:off x="411480" y="1920240"/>
            <a:ext cx="3566160" cy="1554480"/>
          </a:xfrm>
          <a:prstGeom prst="rect">
            <a:avLst/>
          </a:prstGeom>
          <a:noFill/>
          <a:ln/>
        </p:spPr>
        <p:txBody>
          <a:bodyPr wrap="square" lIns="0" tIns="0" rIns="0" bIns="0" rtlCol="0" anchor="ctr"/>
          <a:lstStyle/>
          <a:p>
            <a:pPr algn="ctr" indent="0" marL="0">
              <a:buNone/>
            </a:pPr>
            <a:r>
              <a:rPr lang="en-US" sz="7200" b="1" dirty="0">
                <a:solidFill>
                  <a:srgbClr val="FFFFFF"/>
                </a:solidFill>
                <a:latin typeface="Cambria" pitchFamily="34" charset="0"/>
                <a:ea typeface="Cambria" pitchFamily="34" charset="-122"/>
                <a:cs typeface="Cambria" pitchFamily="34" charset="-120"/>
              </a:rPr>
              <a:t>+3.000</a:t>
            </a:r>
            <a:endParaRPr lang="en-US" sz="7200" dirty="0"/>
          </a:p>
        </p:txBody>
      </p:sp>
      <p:sp>
        <p:nvSpPr>
          <p:cNvPr id="4" name="Text 2"/>
          <p:cNvSpPr txBox="1"/>
          <p:nvPr/>
        </p:nvSpPr>
        <p:spPr>
          <a:xfrm>
            <a:off x="411480" y="3429000"/>
            <a:ext cx="3566160" cy="640080"/>
          </a:xfrm>
          <a:prstGeom prst="rect">
            <a:avLst/>
          </a:prstGeom>
          <a:noFill/>
          <a:ln/>
        </p:spPr>
        <p:txBody>
          <a:bodyPr wrap="square" lIns="0" tIns="0" rIns="0" bIns="0" rtlCol="0" anchor="ctr"/>
          <a:lstStyle/>
          <a:p>
            <a:pPr algn="ctr" indent="0" marL="0">
              <a:buNone/>
            </a:pPr>
            <a:r>
              <a:rPr lang="en-US" sz="2600" dirty="0">
                <a:solidFill>
                  <a:srgbClr val="CADCFC"/>
                </a:solidFill>
                <a:latin typeface="Calibri" pitchFamily="34" charset="0"/>
                <a:ea typeface="Calibri" pitchFamily="34" charset="-122"/>
                <a:cs typeface="Calibri" pitchFamily="34" charset="-120"/>
              </a:rPr>
              <a:t>leads al mes</a:t>
            </a:r>
            <a:endParaRPr lang="en-US" sz="2600" dirty="0"/>
          </a:p>
        </p:txBody>
      </p:sp>
      <p:sp>
        <p:nvSpPr>
          <p:cNvPr id="5" name="Text 3"/>
          <p:cNvSpPr txBox="1"/>
          <p:nvPr/>
        </p:nvSpPr>
        <p:spPr>
          <a:xfrm>
            <a:off x="4297680" y="1920240"/>
            <a:ext cx="3566160" cy="1554480"/>
          </a:xfrm>
          <a:prstGeom prst="rect">
            <a:avLst/>
          </a:prstGeom>
          <a:noFill/>
          <a:ln/>
        </p:spPr>
        <p:txBody>
          <a:bodyPr wrap="square" lIns="0" tIns="0" rIns="0" bIns="0" rtlCol="0" anchor="ctr"/>
          <a:lstStyle/>
          <a:p>
            <a:pPr algn="ctr" indent="0" marL="0">
              <a:buNone/>
            </a:pPr>
            <a:r>
              <a:rPr lang="en-US" sz="7200" b="1" dirty="0">
                <a:solidFill>
                  <a:srgbClr val="D64545"/>
                </a:solidFill>
                <a:latin typeface="Cambria" pitchFamily="34" charset="0"/>
                <a:ea typeface="Cambria" pitchFamily="34" charset="-122"/>
                <a:cs typeface="Cambria" pitchFamily="34" charset="-120"/>
              </a:rPr>
              <a:t>4 de 10</a:t>
            </a:r>
            <a:endParaRPr lang="en-US" sz="7200" dirty="0"/>
          </a:p>
        </p:txBody>
      </p:sp>
      <p:sp>
        <p:nvSpPr>
          <p:cNvPr id="6" name="Text 4"/>
          <p:cNvSpPr txBox="1"/>
          <p:nvPr/>
        </p:nvSpPr>
        <p:spPr>
          <a:xfrm>
            <a:off x="4297680" y="3429000"/>
            <a:ext cx="3566160" cy="640080"/>
          </a:xfrm>
          <a:prstGeom prst="rect">
            <a:avLst/>
          </a:prstGeom>
          <a:noFill/>
          <a:ln/>
        </p:spPr>
        <p:txBody>
          <a:bodyPr wrap="square" lIns="0" tIns="0" rIns="0" bIns="0" rtlCol="0" anchor="ctr"/>
          <a:lstStyle/>
          <a:p>
            <a:pPr algn="ctr" indent="0" marL="0">
              <a:buNone/>
            </a:pPr>
            <a:r>
              <a:rPr lang="en-US" sz="2600" dirty="0">
                <a:solidFill>
                  <a:srgbClr val="CADCFC"/>
                </a:solidFill>
                <a:latin typeface="Calibri" pitchFamily="34" charset="0"/>
                <a:ea typeface="Calibri" pitchFamily="34" charset="-122"/>
                <a:cs typeface="Calibri" pitchFamily="34" charset="-120"/>
              </a:rPr>
              <a:t>sin tocar en 24 h</a:t>
            </a:r>
            <a:endParaRPr lang="en-US" sz="2600" dirty="0"/>
          </a:p>
        </p:txBody>
      </p:sp>
      <p:sp>
        <p:nvSpPr>
          <p:cNvPr id="7" name="Text 5"/>
          <p:cNvSpPr txBox="1"/>
          <p:nvPr/>
        </p:nvSpPr>
        <p:spPr>
          <a:xfrm>
            <a:off x="8183880" y="1920240"/>
            <a:ext cx="3566160" cy="1554480"/>
          </a:xfrm>
          <a:prstGeom prst="rect">
            <a:avLst/>
          </a:prstGeom>
          <a:noFill/>
          <a:ln/>
        </p:spPr>
        <p:txBody>
          <a:bodyPr wrap="square" lIns="0" tIns="0" rIns="0" bIns="0" rtlCol="0" anchor="ctr"/>
          <a:lstStyle/>
          <a:p>
            <a:pPr algn="ctr" indent="0" marL="0">
              <a:buNone/>
            </a:pPr>
            <a:r>
              <a:rPr lang="en-US" sz="7200" b="1" dirty="0">
                <a:solidFill>
                  <a:srgbClr val="FFFFFF"/>
                </a:solidFill>
                <a:latin typeface="Cambria" pitchFamily="34" charset="0"/>
                <a:ea typeface="Cambria" pitchFamily="34" charset="-122"/>
                <a:cs typeface="Cambria" pitchFamily="34" charset="-120"/>
              </a:rPr>
              <a:t>&lt;1 de 10</a:t>
            </a:r>
            <a:endParaRPr lang="en-US" sz="7200" dirty="0"/>
          </a:p>
        </p:txBody>
      </p:sp>
      <p:sp>
        <p:nvSpPr>
          <p:cNvPr id="8" name="Text 6"/>
          <p:cNvSpPr txBox="1"/>
          <p:nvPr/>
        </p:nvSpPr>
        <p:spPr>
          <a:xfrm>
            <a:off x="8183880" y="3429000"/>
            <a:ext cx="3566160" cy="640080"/>
          </a:xfrm>
          <a:prstGeom prst="rect">
            <a:avLst/>
          </a:prstGeom>
          <a:noFill/>
          <a:ln/>
        </p:spPr>
        <p:txBody>
          <a:bodyPr wrap="square" lIns="0" tIns="0" rIns="0" bIns="0" rtlCol="0" anchor="ctr"/>
          <a:lstStyle/>
          <a:p>
            <a:pPr algn="ctr" indent="0" marL="0">
              <a:buNone/>
            </a:pPr>
            <a:r>
              <a:rPr lang="en-US" sz="2600" dirty="0">
                <a:solidFill>
                  <a:srgbClr val="CADCFC"/>
                </a:solidFill>
                <a:latin typeface="Calibri" pitchFamily="34" charset="0"/>
                <a:ea typeface="Calibri" pitchFamily="34" charset="-122"/>
                <a:cs typeface="Calibri" pitchFamily="34" charset="-120"/>
              </a:rPr>
              <a:t>se cierra</a:t>
            </a:r>
            <a:endParaRPr lang="en-US" sz="2600" dirty="0"/>
          </a:p>
        </p:txBody>
      </p:sp>
      <p:sp>
        <p:nvSpPr>
          <p:cNvPr id="9" name="Text 7"/>
          <p:cNvSpPr txBox="1"/>
          <p:nvPr/>
        </p:nvSpPr>
        <p:spPr>
          <a:xfrm>
            <a:off x="1280160" y="5394960"/>
            <a:ext cx="9601200" cy="822960"/>
          </a:xfrm>
          <a:prstGeom prst="rect">
            <a:avLst/>
          </a:prstGeom>
          <a:noFill/>
          <a:ln/>
        </p:spPr>
        <p:txBody>
          <a:bodyPr wrap="square" lIns="0" tIns="0" rIns="0" bIns="0" rtlCol="0" anchor="ctr"/>
          <a:lstStyle/>
          <a:p>
            <a:pPr algn="ctr" indent="0" marL="0">
              <a:buNone/>
            </a:pPr>
            <a:r>
              <a:rPr lang="en-US" sz="2600" i="1" dirty="0">
                <a:solidFill>
                  <a:srgbClr val="FFFFFF"/>
                </a:solidFill>
                <a:latin typeface="Calibri" pitchFamily="34" charset="0"/>
                <a:ea typeface="Calibri" pitchFamily="34" charset="-122"/>
                <a:cs typeface="Calibri" pitchFamily="34" charset="-120"/>
              </a:rPr>
              <a:t>La información que decide la venta queda enterrada en WhatsApp.</a:t>
            </a:r>
            <a:endParaRPr lang="en-US" sz="2600" dirty="0"/>
          </a:p>
        </p:txBody>
      </p:sp>
      <p:sp>
        <p:nvSpPr>
          <p:cNvPr id="10" name="Text 8"/>
          <p:cNvSpPr txBox="1"/>
          <p:nvPr/>
        </p:nvSpPr>
        <p:spPr>
          <a:xfrm>
            <a:off x="11155680" y="6400800"/>
            <a:ext cx="731520" cy="320040"/>
          </a:xfrm>
          <a:prstGeom prst="rect">
            <a:avLst/>
          </a:prstGeom>
          <a:noFill/>
          <a:ln/>
        </p:spPr>
        <p:txBody>
          <a:bodyPr wrap="square" lIns="0" tIns="0" rIns="0" bIns="0" rtlCol="0" anchor="ctr"/>
          <a:lstStyle/>
          <a:p>
            <a:pPr algn="r" indent="0" marL="0">
              <a:buNone/>
            </a:pPr>
            <a:r>
              <a:rPr lang="en-US" sz="1100" dirty="0">
                <a:solidFill>
                  <a:srgbClr val="8FA3D6"/>
                </a:solidFill>
                <a:latin typeface="Calibri" pitchFamily="34" charset="0"/>
                <a:ea typeface="Calibri" pitchFamily="34" charset="-122"/>
                <a:cs typeface="Calibri" pitchFamily="34" charset="-120"/>
              </a:rPr>
              <a:t>1 / 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4000" b="1" dirty="0">
                <a:solidFill>
                  <a:srgbClr val="15203D"/>
                </a:solidFill>
                <a:latin typeface="Cambria" pitchFamily="34" charset="0"/>
                <a:ea typeface="Cambria" pitchFamily="34" charset="-122"/>
                <a:cs typeface="Cambria" pitchFamily="34" charset="-120"/>
              </a:rPr>
              <a:t>Qué construí</a:t>
            </a:r>
            <a:endParaRPr lang="en-US" sz="4000" dirty="0"/>
          </a:p>
        </p:txBody>
      </p:sp>
      <p:sp>
        <p:nvSpPr>
          <p:cNvPr id="3" name="Text 1"/>
          <p:cNvSpPr txBox="1"/>
          <p:nvPr/>
        </p:nvSpPr>
        <p:spPr>
          <a:xfrm>
            <a:off x="640080" y="1234440"/>
            <a:ext cx="10881360" cy="548640"/>
          </a:xfrm>
          <a:prstGeom prst="rect">
            <a:avLst/>
          </a:prstGeom>
          <a:noFill/>
          <a:ln/>
        </p:spPr>
        <p:txBody>
          <a:bodyPr wrap="square" lIns="0" tIns="0" rIns="0" bIns="0" rtlCol="0" anchor="ctr"/>
          <a:lstStyle/>
          <a:p>
            <a:pPr indent="0" marL="0">
              <a:buNone/>
            </a:pPr>
            <a:r>
              <a:rPr lang="en-US" sz="2400" dirty="0">
                <a:solidFill>
                  <a:srgbClr val="4A5578"/>
                </a:solidFill>
                <a:latin typeface="Calibri" pitchFamily="34" charset="0"/>
                <a:ea typeface="Calibri" pitchFamily="34" charset="-122"/>
                <a:cs typeface="Calibri" pitchFamily="34" charset="-120"/>
              </a:rPr>
              <a:t>Pipeline automatizado + IA que lee los chats + score explicable + vista web.</a:t>
            </a:r>
            <a:endParaRPr lang="en-US" sz="2400" dirty="0"/>
          </a:p>
        </p:txBody>
      </p:sp>
      <p:pic>
        <p:nvPicPr>
          <p:cNvPr id="4" name="Image 0" descr="architecture.png">    </p:cNvPr>
          <p:cNvPicPr>
            <a:picLocks noChangeAspect="1"/>
          </p:cNvPicPr>
          <p:nvPr/>
        </p:nvPicPr>
        <p:blipFill>
          <a:blip r:embed="rId1"/>
          <a:stretch>
            <a:fillRect/>
          </a:stretch>
        </p:blipFill>
        <p:spPr>
          <a:xfrm>
            <a:off x="411480" y="2606040"/>
            <a:ext cx="11338560" cy="3514954"/>
          </a:xfrm>
          <a:prstGeom prst="rect">
            <a:avLst/>
          </a:prstGeom>
        </p:spPr>
      </p:pic>
      <p:sp>
        <p:nvSpPr>
          <p:cNvPr id="5" name="Text 2"/>
          <p:cNvSpPr txBox="1"/>
          <p:nvPr/>
        </p:nvSpPr>
        <p:spPr>
          <a:xfrm>
            <a:off x="11155680" y="6400800"/>
            <a:ext cx="731520" cy="320040"/>
          </a:xfrm>
          <a:prstGeom prst="rect">
            <a:avLst/>
          </a:prstGeom>
          <a:noFill/>
          <a:ln/>
        </p:spPr>
        <p:txBody>
          <a:bodyPr wrap="square" lIns="0" tIns="0" rIns="0" bIns="0" rtlCol="0" anchor="ctr"/>
          <a:lstStyle/>
          <a:p>
            <a:pPr algn="r" indent="0" marL="0">
              <a:buNone/>
            </a:pPr>
            <a:r>
              <a:rPr lang="en-US" sz="1100" dirty="0">
                <a:solidFill>
                  <a:srgbClr val="9AA5BD"/>
                </a:solidFill>
                <a:latin typeface="Calibri" pitchFamily="34" charset="0"/>
                <a:ea typeface="Calibri" pitchFamily="34" charset="-122"/>
                <a:cs typeface="Calibri" pitchFamily="34" charset="-120"/>
              </a:rPr>
              <a:t>2 / 8</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1188720"/>
          </a:xfrm>
          <a:prstGeom prst="rect">
            <a:avLst/>
          </a:prstGeom>
          <a:noFill/>
          <a:ln/>
        </p:spPr>
        <p:txBody>
          <a:bodyPr wrap="square" lIns="0" tIns="0" rIns="0" bIns="0" rtlCol="0" anchor="ctr"/>
          <a:lstStyle/>
          <a:p>
            <a:pPr indent="0" marL="0">
              <a:lnSpc>
                <a:spcPct val="105000"/>
              </a:lnSpc>
              <a:buNone/>
            </a:pPr>
            <a:r>
              <a:rPr lang="en-US" sz="3600" b="1" dirty="0">
                <a:solidFill>
                  <a:srgbClr val="15203D"/>
                </a:solidFill>
                <a:latin typeface="Cambria" pitchFamily="34" charset="0"/>
                <a:ea typeface="Cambria" pitchFamily="34" charset="-122"/>
                <a:cs typeface="Cambria" pitchFamily="34" charset="-120"/>
              </a:rPr>
              <a:t>Los datos eran un desastre</a:t>
            </a:r>
            <a:endParaRPr lang="en-US" sz="3600" dirty="0"/>
          </a:p>
          <a:p>
            <a:pPr indent="0" marL="0">
              <a:lnSpc>
                <a:spcPct val="105000"/>
              </a:lnSpc>
              <a:buNone/>
            </a:pPr>
            <a:r>
              <a:rPr lang="en-US" sz="3600" b="1" dirty="0">
                <a:solidFill>
                  <a:srgbClr val="15203D"/>
                </a:solidFill>
                <a:latin typeface="Cambria" pitchFamily="34" charset="0"/>
                <a:ea typeface="Cambria" pitchFamily="34" charset="-122"/>
                <a:cs typeface="Cambria" pitchFamily="34" charset="-120"/>
              </a:rPr>
              <a:t>y los limpié y ordené</a:t>
            </a:r>
            <a:endParaRPr lang="en-US" sz="3600" dirty="0"/>
          </a:p>
        </p:txBody>
      </p:sp>
      <p:sp>
        <p:nvSpPr>
          <p:cNvPr id="3" name="Shape 1"/>
          <p:cNvSpPr/>
          <p:nvPr/>
        </p:nvSpPr>
        <p:spPr>
          <a:xfrm>
            <a:off x="640080" y="1965960"/>
            <a:ext cx="2084832" cy="1920240"/>
          </a:xfrm>
          <a:prstGeom prst="roundRect">
            <a:avLst>
              <a:gd name="adj" fmla="val 5714"/>
            </a:avLst>
          </a:prstGeom>
          <a:solidFill>
            <a:srgbClr val="FFFFFF"/>
          </a:solidFill>
          <a:ln w="19050">
            <a:solidFill>
              <a:srgbClr val="CADCFC"/>
            </a:solidFill>
            <a:prstDash val="solid"/>
          </a:ln>
          <a:effectLst>
            <a:outerShdw sx="100000" sy="100000" kx="0" ky="0" algn="bl" rotWithShape="0" blurRad="76200" dist="38100" dir="5400000">
              <a:srgbClr val="1E2761">
                <a:alpha val="15000"/>
              </a:srgbClr>
            </a:outerShdw>
          </a:effectLst>
        </p:spPr>
      </p:sp>
      <p:sp>
        <p:nvSpPr>
          <p:cNvPr id="4" name="Text 2"/>
          <p:cNvSpPr txBox="1"/>
          <p:nvPr/>
        </p:nvSpPr>
        <p:spPr>
          <a:xfrm>
            <a:off x="640080" y="2130552"/>
            <a:ext cx="2084832" cy="777240"/>
          </a:xfrm>
          <a:prstGeom prst="rect">
            <a:avLst/>
          </a:prstGeom>
          <a:noFill/>
          <a:ln/>
        </p:spPr>
        <p:txBody>
          <a:bodyPr wrap="square" lIns="0" tIns="0" rIns="0" bIns="0" rtlCol="0" anchor="ctr"/>
          <a:lstStyle/>
          <a:p>
            <a:pPr algn="ctr" indent="0" marL="0">
              <a:buNone/>
            </a:pPr>
            <a:r>
              <a:rPr lang="en-US" sz="4600" b="1" dirty="0">
                <a:solidFill>
                  <a:srgbClr val="15203D"/>
                </a:solidFill>
                <a:latin typeface="Cambria" pitchFamily="34" charset="0"/>
                <a:ea typeface="Cambria" pitchFamily="34" charset="-122"/>
                <a:cs typeface="Cambria" pitchFamily="34" charset="-120"/>
              </a:rPr>
              <a:t>9</a:t>
            </a:r>
            <a:endParaRPr lang="en-US" sz="4600" dirty="0"/>
          </a:p>
        </p:txBody>
      </p:sp>
      <p:sp>
        <p:nvSpPr>
          <p:cNvPr id="5" name="Text 3"/>
          <p:cNvSpPr txBox="1"/>
          <p:nvPr/>
        </p:nvSpPr>
        <p:spPr>
          <a:xfrm>
            <a:off x="731520" y="2926080"/>
            <a:ext cx="1901952" cy="868680"/>
          </a:xfrm>
          <a:prstGeom prst="rect">
            <a:avLst/>
          </a:prstGeom>
          <a:noFill/>
          <a:ln/>
        </p:spPr>
        <p:txBody>
          <a:bodyPr wrap="square" lIns="0" tIns="0" rIns="0" bIns="0" rtlCol="0" anchor="ctr"/>
          <a:lstStyle/>
          <a:p>
            <a:pPr algn="ctr" indent="0" marL="0">
              <a:lnSpc>
                <a:spcPct val="105000"/>
              </a:lnSpc>
              <a:buNone/>
            </a:pPr>
            <a:r>
              <a:rPr lang="en-US" sz="1500" dirty="0">
                <a:solidFill>
                  <a:srgbClr val="4A5578"/>
                </a:solidFill>
                <a:latin typeface="Calibri" pitchFamily="34" charset="0"/>
                <a:ea typeface="Calibri" pitchFamily="34" charset="-122"/>
                <a:cs typeface="Calibri" pitchFamily="34" charset="-120"/>
              </a:rPr>
              <a:t>grafías distintas</a:t>
            </a:r>
            <a:endParaRPr lang="en-US" sz="1500" dirty="0"/>
          </a:p>
          <a:p>
            <a:pPr algn="ctr" indent="0" marL="0">
              <a:lnSpc>
                <a:spcPct val="105000"/>
              </a:lnSpc>
              <a:buNone/>
            </a:pPr>
            <a:r>
              <a:rPr lang="en-US" sz="1500" dirty="0">
                <a:solidFill>
                  <a:srgbClr val="4A5578"/>
                </a:solidFill>
                <a:latin typeface="Calibri" pitchFamily="34" charset="0"/>
                <a:ea typeface="Calibri" pitchFamily="34" charset="-122"/>
                <a:cs typeface="Calibri" pitchFamily="34" charset="-120"/>
              </a:rPr>
              <a:t>para un mismo canal</a:t>
            </a:r>
            <a:endParaRPr lang="en-US" sz="1500" dirty="0"/>
          </a:p>
        </p:txBody>
      </p:sp>
      <p:sp>
        <p:nvSpPr>
          <p:cNvPr id="6" name="Shape 4"/>
          <p:cNvSpPr/>
          <p:nvPr/>
        </p:nvSpPr>
        <p:spPr>
          <a:xfrm>
            <a:off x="2889504" y="1965960"/>
            <a:ext cx="2084832" cy="1920240"/>
          </a:xfrm>
          <a:prstGeom prst="roundRect">
            <a:avLst>
              <a:gd name="adj" fmla="val 5714"/>
            </a:avLst>
          </a:prstGeom>
          <a:solidFill>
            <a:srgbClr val="FFFFFF"/>
          </a:solidFill>
          <a:ln w="19050">
            <a:solidFill>
              <a:srgbClr val="CADCFC"/>
            </a:solidFill>
            <a:prstDash val="solid"/>
          </a:ln>
          <a:effectLst>
            <a:outerShdw sx="100000" sy="100000" kx="0" ky="0" algn="bl" rotWithShape="0" blurRad="76200" dist="38100" dir="5400000">
              <a:srgbClr val="1E2761">
                <a:alpha val="15000"/>
              </a:srgbClr>
            </a:outerShdw>
          </a:effectLst>
        </p:spPr>
      </p:sp>
      <p:sp>
        <p:nvSpPr>
          <p:cNvPr id="7" name="Text 5"/>
          <p:cNvSpPr txBox="1"/>
          <p:nvPr/>
        </p:nvSpPr>
        <p:spPr>
          <a:xfrm>
            <a:off x="2889504" y="2130552"/>
            <a:ext cx="2084832" cy="777240"/>
          </a:xfrm>
          <a:prstGeom prst="rect">
            <a:avLst/>
          </a:prstGeom>
          <a:noFill/>
          <a:ln/>
        </p:spPr>
        <p:txBody>
          <a:bodyPr wrap="square" lIns="0" tIns="0" rIns="0" bIns="0" rtlCol="0" anchor="ctr"/>
          <a:lstStyle/>
          <a:p>
            <a:pPr algn="ctr" indent="0" marL="0">
              <a:buNone/>
            </a:pPr>
            <a:r>
              <a:rPr lang="en-US" sz="4600" b="1" dirty="0">
                <a:solidFill>
                  <a:srgbClr val="15203D"/>
                </a:solidFill>
                <a:latin typeface="Cambria" pitchFamily="34" charset="0"/>
                <a:ea typeface="Cambria" pitchFamily="34" charset="-122"/>
                <a:cs typeface="Cambria" pitchFamily="34" charset="-120"/>
              </a:rPr>
              <a:t>5</a:t>
            </a:r>
            <a:endParaRPr lang="en-US" sz="4600" dirty="0"/>
          </a:p>
        </p:txBody>
      </p:sp>
      <p:sp>
        <p:nvSpPr>
          <p:cNvPr id="8" name="Text 6"/>
          <p:cNvSpPr txBox="1"/>
          <p:nvPr/>
        </p:nvSpPr>
        <p:spPr>
          <a:xfrm>
            <a:off x="2980944" y="2926080"/>
            <a:ext cx="1901952" cy="868680"/>
          </a:xfrm>
          <a:prstGeom prst="rect">
            <a:avLst/>
          </a:prstGeom>
          <a:noFill/>
          <a:ln/>
        </p:spPr>
        <p:txBody>
          <a:bodyPr wrap="square" lIns="0" tIns="0" rIns="0" bIns="0" rtlCol="0" anchor="ctr"/>
          <a:lstStyle/>
          <a:p>
            <a:pPr algn="ctr" indent="0" marL="0">
              <a:lnSpc>
                <a:spcPct val="105000"/>
              </a:lnSpc>
              <a:buNone/>
            </a:pPr>
            <a:r>
              <a:rPr lang="en-US" sz="1500" dirty="0">
                <a:solidFill>
                  <a:srgbClr val="4A5578"/>
                </a:solidFill>
                <a:latin typeface="Calibri" pitchFamily="34" charset="0"/>
                <a:ea typeface="Calibri" pitchFamily="34" charset="-122"/>
                <a:cs typeface="Calibri" pitchFamily="34" charset="-120"/>
              </a:rPr>
              <a:t>formatos de fecha</a:t>
            </a:r>
            <a:endParaRPr lang="en-US" sz="1500" dirty="0"/>
          </a:p>
          <a:p>
            <a:pPr algn="ctr" indent="0" marL="0">
              <a:lnSpc>
                <a:spcPct val="105000"/>
              </a:lnSpc>
              <a:buNone/>
            </a:pPr>
            <a:r>
              <a:rPr lang="en-US" sz="1500" dirty="0">
                <a:solidFill>
                  <a:srgbClr val="4A5578"/>
                </a:solidFill>
                <a:latin typeface="Calibri" pitchFamily="34" charset="0"/>
                <a:ea typeface="Calibri" pitchFamily="34" charset="-122"/>
                <a:cs typeface="Calibri" pitchFamily="34" charset="-120"/>
              </a:rPr>
              <a:t>(481 ambiguas)</a:t>
            </a:r>
            <a:endParaRPr lang="en-US" sz="1500" dirty="0"/>
          </a:p>
        </p:txBody>
      </p:sp>
      <p:sp>
        <p:nvSpPr>
          <p:cNvPr id="9" name="Shape 7"/>
          <p:cNvSpPr/>
          <p:nvPr/>
        </p:nvSpPr>
        <p:spPr>
          <a:xfrm>
            <a:off x="5138928" y="1965960"/>
            <a:ext cx="2084832" cy="1920240"/>
          </a:xfrm>
          <a:prstGeom prst="roundRect">
            <a:avLst>
              <a:gd name="adj" fmla="val 5714"/>
            </a:avLst>
          </a:prstGeom>
          <a:solidFill>
            <a:srgbClr val="FFFFFF"/>
          </a:solidFill>
          <a:ln w="19050">
            <a:solidFill>
              <a:srgbClr val="CADCFC"/>
            </a:solidFill>
            <a:prstDash val="solid"/>
          </a:ln>
          <a:effectLst>
            <a:outerShdw sx="100000" sy="100000" kx="0" ky="0" algn="bl" rotWithShape="0" blurRad="76200" dist="38100" dir="5400000">
              <a:srgbClr val="1E2761">
                <a:alpha val="15000"/>
              </a:srgbClr>
            </a:outerShdw>
          </a:effectLst>
        </p:spPr>
      </p:sp>
      <p:sp>
        <p:nvSpPr>
          <p:cNvPr id="10" name="Text 8"/>
          <p:cNvSpPr txBox="1"/>
          <p:nvPr/>
        </p:nvSpPr>
        <p:spPr>
          <a:xfrm>
            <a:off x="5138928" y="2130552"/>
            <a:ext cx="2084832" cy="777240"/>
          </a:xfrm>
          <a:prstGeom prst="rect">
            <a:avLst/>
          </a:prstGeom>
          <a:noFill/>
          <a:ln/>
        </p:spPr>
        <p:txBody>
          <a:bodyPr wrap="square" lIns="0" tIns="0" rIns="0" bIns="0" rtlCol="0" anchor="ctr"/>
          <a:lstStyle/>
          <a:p>
            <a:pPr algn="ctr" indent="0" marL="0">
              <a:buNone/>
            </a:pPr>
            <a:r>
              <a:rPr lang="en-US" sz="4600" b="1" dirty="0">
                <a:solidFill>
                  <a:srgbClr val="15203D"/>
                </a:solidFill>
                <a:latin typeface="Cambria" pitchFamily="34" charset="0"/>
                <a:ea typeface="Cambria" pitchFamily="34" charset="-122"/>
                <a:cs typeface="Cambria" pitchFamily="34" charset="-120"/>
              </a:rPr>
              <a:t>3</a:t>
            </a:r>
            <a:endParaRPr lang="en-US" sz="4600" dirty="0"/>
          </a:p>
        </p:txBody>
      </p:sp>
      <p:sp>
        <p:nvSpPr>
          <p:cNvPr id="11" name="Text 9"/>
          <p:cNvSpPr txBox="1"/>
          <p:nvPr/>
        </p:nvSpPr>
        <p:spPr>
          <a:xfrm>
            <a:off x="5230368" y="2926080"/>
            <a:ext cx="1901952" cy="868680"/>
          </a:xfrm>
          <a:prstGeom prst="rect">
            <a:avLst/>
          </a:prstGeom>
          <a:noFill/>
          <a:ln/>
        </p:spPr>
        <p:txBody>
          <a:bodyPr wrap="square" lIns="0" tIns="0" rIns="0" bIns="0" rtlCol="0" anchor="ctr"/>
          <a:lstStyle/>
          <a:p>
            <a:pPr algn="ctr" indent="0" marL="0">
              <a:lnSpc>
                <a:spcPct val="105000"/>
              </a:lnSpc>
              <a:buNone/>
            </a:pPr>
            <a:r>
              <a:rPr lang="en-US" sz="1500" dirty="0">
                <a:solidFill>
                  <a:srgbClr val="4A5578"/>
                </a:solidFill>
                <a:latin typeface="Calibri" pitchFamily="34" charset="0"/>
                <a:ea typeface="Calibri" pitchFamily="34" charset="-122"/>
                <a:cs typeface="Calibri" pitchFamily="34" charset="-120"/>
              </a:rPr>
              <a:t>formatos de</a:t>
            </a:r>
            <a:endParaRPr lang="en-US" sz="1500" dirty="0"/>
          </a:p>
          <a:p>
            <a:pPr algn="ctr" indent="0" marL="0">
              <a:lnSpc>
                <a:spcPct val="105000"/>
              </a:lnSpc>
              <a:buNone/>
            </a:pPr>
            <a:r>
              <a:rPr lang="en-US" sz="1500" dirty="0">
                <a:solidFill>
                  <a:srgbClr val="4A5578"/>
                </a:solidFill>
                <a:latin typeface="Calibri" pitchFamily="34" charset="0"/>
                <a:ea typeface="Calibri" pitchFamily="34" charset="-122"/>
                <a:cs typeface="Calibri" pitchFamily="34" charset="-120"/>
              </a:rPr>
              <a:t>teléfono</a:t>
            </a:r>
            <a:endParaRPr lang="en-US" sz="1500" dirty="0"/>
          </a:p>
        </p:txBody>
      </p:sp>
      <p:sp>
        <p:nvSpPr>
          <p:cNvPr id="12" name="Shape 10"/>
          <p:cNvSpPr/>
          <p:nvPr/>
        </p:nvSpPr>
        <p:spPr>
          <a:xfrm>
            <a:off x="7388352" y="1965960"/>
            <a:ext cx="2084832" cy="1920240"/>
          </a:xfrm>
          <a:prstGeom prst="roundRect">
            <a:avLst>
              <a:gd name="adj" fmla="val 5714"/>
            </a:avLst>
          </a:prstGeom>
          <a:solidFill>
            <a:srgbClr val="FFFFFF"/>
          </a:solidFill>
          <a:ln w="19050">
            <a:solidFill>
              <a:srgbClr val="CADCFC"/>
            </a:solidFill>
            <a:prstDash val="solid"/>
          </a:ln>
          <a:effectLst>
            <a:outerShdw sx="100000" sy="100000" kx="0" ky="0" algn="bl" rotWithShape="0" blurRad="76200" dist="38100" dir="5400000">
              <a:srgbClr val="1E2761">
                <a:alpha val="15000"/>
              </a:srgbClr>
            </a:outerShdw>
          </a:effectLst>
        </p:spPr>
      </p:sp>
      <p:sp>
        <p:nvSpPr>
          <p:cNvPr id="13" name="Text 11"/>
          <p:cNvSpPr txBox="1"/>
          <p:nvPr/>
        </p:nvSpPr>
        <p:spPr>
          <a:xfrm>
            <a:off x="7388352" y="2130552"/>
            <a:ext cx="2084832" cy="777240"/>
          </a:xfrm>
          <a:prstGeom prst="rect">
            <a:avLst/>
          </a:prstGeom>
          <a:noFill/>
          <a:ln/>
        </p:spPr>
        <p:txBody>
          <a:bodyPr wrap="square" lIns="0" tIns="0" rIns="0" bIns="0" rtlCol="0" anchor="ctr"/>
          <a:lstStyle/>
          <a:p>
            <a:pPr algn="ctr" indent="0" marL="0">
              <a:buNone/>
            </a:pPr>
            <a:r>
              <a:rPr lang="en-US" sz="4600" b="1" dirty="0">
                <a:solidFill>
                  <a:srgbClr val="15203D"/>
                </a:solidFill>
                <a:latin typeface="Cambria" pitchFamily="34" charset="0"/>
                <a:ea typeface="Cambria" pitchFamily="34" charset="-122"/>
                <a:cs typeface="Cambria" pitchFamily="34" charset="-120"/>
              </a:rPr>
              <a:t>91</a:t>
            </a:r>
            <a:endParaRPr lang="en-US" sz="4600" dirty="0"/>
          </a:p>
        </p:txBody>
      </p:sp>
      <p:sp>
        <p:nvSpPr>
          <p:cNvPr id="14" name="Text 12"/>
          <p:cNvSpPr txBox="1"/>
          <p:nvPr/>
        </p:nvSpPr>
        <p:spPr>
          <a:xfrm>
            <a:off x="7479792" y="2926080"/>
            <a:ext cx="1901952" cy="868680"/>
          </a:xfrm>
          <a:prstGeom prst="rect">
            <a:avLst/>
          </a:prstGeom>
          <a:noFill/>
          <a:ln/>
        </p:spPr>
        <p:txBody>
          <a:bodyPr wrap="square" lIns="0" tIns="0" rIns="0" bIns="0" rtlCol="0" anchor="ctr"/>
          <a:lstStyle/>
          <a:p>
            <a:pPr algn="ctr" indent="0" marL="0">
              <a:lnSpc>
                <a:spcPct val="105000"/>
              </a:lnSpc>
              <a:buNone/>
            </a:pPr>
            <a:r>
              <a:rPr lang="en-US" sz="1500" dirty="0">
                <a:solidFill>
                  <a:srgbClr val="4A5578"/>
                </a:solidFill>
                <a:latin typeface="Calibri" pitchFamily="34" charset="0"/>
                <a:ea typeface="Calibri" pitchFamily="34" charset="-122"/>
                <a:cs typeface="Calibri" pitchFamily="34" charset="-120"/>
              </a:rPr>
              <a:t>duplicados</a:t>
            </a:r>
            <a:endParaRPr lang="en-US" sz="1500" dirty="0"/>
          </a:p>
          <a:p>
            <a:pPr algn="ctr" indent="0" marL="0">
              <a:lnSpc>
                <a:spcPct val="105000"/>
              </a:lnSpc>
              <a:buNone/>
            </a:pPr>
            <a:r>
              <a:rPr lang="en-US" sz="1500" dirty="0">
                <a:solidFill>
                  <a:srgbClr val="4A5578"/>
                </a:solidFill>
                <a:latin typeface="Calibri" pitchFamily="34" charset="0"/>
                <a:ea typeface="Calibri" pitchFamily="34" charset="-122"/>
                <a:cs typeface="Calibri" pitchFamily="34" charset="-120"/>
              </a:rPr>
              <a:t>cruzando empresas</a:t>
            </a:r>
            <a:endParaRPr lang="en-US" sz="1500" dirty="0"/>
          </a:p>
        </p:txBody>
      </p:sp>
      <p:sp>
        <p:nvSpPr>
          <p:cNvPr id="15" name="Shape 13"/>
          <p:cNvSpPr/>
          <p:nvPr/>
        </p:nvSpPr>
        <p:spPr>
          <a:xfrm>
            <a:off x="9637776" y="1965960"/>
            <a:ext cx="2084832" cy="1920240"/>
          </a:xfrm>
          <a:prstGeom prst="roundRect">
            <a:avLst>
              <a:gd name="adj" fmla="val 5714"/>
            </a:avLst>
          </a:prstGeom>
          <a:solidFill>
            <a:srgbClr val="FFFFFF"/>
          </a:solidFill>
          <a:ln w="19050">
            <a:solidFill>
              <a:srgbClr val="CADCFC"/>
            </a:solidFill>
            <a:prstDash val="solid"/>
          </a:ln>
          <a:effectLst>
            <a:outerShdw sx="100000" sy="100000" kx="0" ky="0" algn="bl" rotWithShape="0" blurRad="76200" dist="38100" dir="5400000">
              <a:srgbClr val="1E2761">
                <a:alpha val="15000"/>
              </a:srgbClr>
            </a:outerShdw>
          </a:effectLst>
        </p:spPr>
      </p:sp>
      <p:sp>
        <p:nvSpPr>
          <p:cNvPr id="16" name="Text 14"/>
          <p:cNvSpPr txBox="1"/>
          <p:nvPr/>
        </p:nvSpPr>
        <p:spPr>
          <a:xfrm>
            <a:off x="9637776" y="2130552"/>
            <a:ext cx="2084832" cy="777240"/>
          </a:xfrm>
          <a:prstGeom prst="rect">
            <a:avLst/>
          </a:prstGeom>
          <a:noFill/>
          <a:ln/>
        </p:spPr>
        <p:txBody>
          <a:bodyPr wrap="square" lIns="0" tIns="0" rIns="0" bIns="0" rtlCol="0" anchor="ctr"/>
          <a:lstStyle/>
          <a:p>
            <a:pPr algn="ctr" indent="0" marL="0">
              <a:buNone/>
            </a:pPr>
            <a:r>
              <a:rPr lang="en-US" sz="4600" b="1" dirty="0">
                <a:solidFill>
                  <a:srgbClr val="15203D"/>
                </a:solidFill>
                <a:latin typeface="Cambria" pitchFamily="34" charset="0"/>
                <a:ea typeface="Cambria" pitchFamily="34" charset="-122"/>
                <a:cs typeface="Cambria" pitchFamily="34" charset="-120"/>
              </a:rPr>
              <a:t>12</a:t>
            </a:r>
            <a:endParaRPr lang="en-US" sz="4600" dirty="0"/>
          </a:p>
        </p:txBody>
      </p:sp>
      <p:sp>
        <p:nvSpPr>
          <p:cNvPr id="17" name="Text 15"/>
          <p:cNvSpPr txBox="1"/>
          <p:nvPr/>
        </p:nvSpPr>
        <p:spPr>
          <a:xfrm>
            <a:off x="9729216" y="2926080"/>
            <a:ext cx="1901952" cy="868680"/>
          </a:xfrm>
          <a:prstGeom prst="rect">
            <a:avLst/>
          </a:prstGeom>
          <a:noFill/>
          <a:ln/>
        </p:spPr>
        <p:txBody>
          <a:bodyPr wrap="square" lIns="0" tIns="0" rIns="0" bIns="0" rtlCol="0" anchor="ctr"/>
          <a:lstStyle/>
          <a:p>
            <a:pPr algn="ctr" indent="0" marL="0">
              <a:lnSpc>
                <a:spcPct val="105000"/>
              </a:lnSpc>
              <a:buNone/>
            </a:pPr>
            <a:r>
              <a:rPr lang="en-US" sz="1500" dirty="0">
                <a:solidFill>
                  <a:srgbClr val="4A5578"/>
                </a:solidFill>
                <a:latin typeface="Calibri" pitchFamily="34" charset="0"/>
                <a:ea typeface="Calibri" pitchFamily="34" charset="-122"/>
                <a:cs typeface="Calibri" pitchFamily="34" charset="-120"/>
              </a:rPr>
              <a:t>conversaciones</a:t>
            </a:r>
            <a:endParaRPr lang="en-US" sz="1500" dirty="0"/>
          </a:p>
          <a:p>
            <a:pPr algn="ctr" indent="0" marL="0">
              <a:lnSpc>
                <a:spcPct val="105000"/>
              </a:lnSpc>
              <a:buNone/>
            </a:pPr>
            <a:r>
              <a:rPr lang="en-US" sz="1500" dirty="0">
                <a:solidFill>
                  <a:srgbClr val="4A5578"/>
                </a:solidFill>
                <a:latin typeface="Calibri" pitchFamily="34" charset="0"/>
                <a:ea typeface="Calibri" pitchFamily="34" charset="-122"/>
                <a:cs typeface="Calibri" pitchFamily="34" charset="-120"/>
              </a:rPr>
              <a:t>huérfanas</a:t>
            </a:r>
            <a:endParaRPr lang="en-US" sz="1500" dirty="0"/>
          </a:p>
        </p:txBody>
      </p:sp>
      <p:sp>
        <p:nvSpPr>
          <p:cNvPr id="18" name="Shape 16"/>
          <p:cNvSpPr/>
          <p:nvPr/>
        </p:nvSpPr>
        <p:spPr>
          <a:xfrm>
            <a:off x="640080" y="4297680"/>
            <a:ext cx="10881360" cy="868680"/>
          </a:xfrm>
          <a:prstGeom prst="roundRect">
            <a:avLst>
              <a:gd name="adj" fmla="val 10526"/>
            </a:avLst>
          </a:prstGeom>
          <a:solidFill>
            <a:srgbClr val="EAF7F1"/>
          </a:solidFill>
          <a:ln w="19050">
            <a:solidFill>
              <a:srgbClr val="1E9E6E"/>
            </a:solidFill>
            <a:prstDash val="solid"/>
          </a:ln>
        </p:spPr>
      </p:sp>
      <p:sp>
        <p:nvSpPr>
          <p:cNvPr id="19" name="Text 17"/>
          <p:cNvSpPr txBox="1"/>
          <p:nvPr/>
        </p:nvSpPr>
        <p:spPr>
          <a:xfrm>
            <a:off x="822960" y="4297680"/>
            <a:ext cx="10515600" cy="868680"/>
          </a:xfrm>
          <a:prstGeom prst="rect">
            <a:avLst/>
          </a:prstGeom>
          <a:noFill/>
          <a:ln/>
        </p:spPr>
        <p:txBody>
          <a:bodyPr wrap="square" lIns="0" tIns="0" rIns="0" bIns="0" rtlCol="0" anchor="ctr"/>
          <a:lstStyle/>
          <a:p>
            <a:pPr algn="ctr" indent="0" marL="0">
              <a:buNone/>
            </a:pPr>
            <a:r>
              <a:rPr lang="en-US" sz="2600" b="1" dirty="0">
                <a:solidFill>
                  <a:srgbClr val="0E6B47"/>
                </a:solidFill>
                <a:latin typeface="Calibri" pitchFamily="34" charset="0"/>
                <a:ea typeface="Calibri" pitchFamily="34" charset="-122"/>
                <a:cs typeface="Calibri" pitchFamily="34" charset="-120"/>
              </a:rPr>
              <a:t>96 rechazos visibles — nada se descarta en silencio.</a:t>
            </a:r>
            <a:endParaRPr lang="en-US" sz="2600" dirty="0"/>
          </a:p>
        </p:txBody>
      </p:sp>
      <p:sp>
        <p:nvSpPr>
          <p:cNvPr id="20" name="Text 18"/>
          <p:cNvSpPr txBox="1"/>
          <p:nvPr/>
        </p:nvSpPr>
        <p:spPr>
          <a:xfrm>
            <a:off x="11155680" y="6400800"/>
            <a:ext cx="731520" cy="320040"/>
          </a:xfrm>
          <a:prstGeom prst="rect">
            <a:avLst/>
          </a:prstGeom>
          <a:noFill/>
          <a:ln/>
        </p:spPr>
        <p:txBody>
          <a:bodyPr wrap="square" lIns="0" tIns="0" rIns="0" bIns="0" rtlCol="0" anchor="ctr"/>
          <a:lstStyle/>
          <a:p>
            <a:pPr algn="r" indent="0" marL="0">
              <a:buNone/>
            </a:pPr>
            <a:r>
              <a:rPr lang="en-US" sz="1100" dirty="0">
                <a:solidFill>
                  <a:srgbClr val="9AA5BD"/>
                </a:solidFill>
                <a:latin typeface="Calibri" pitchFamily="34" charset="0"/>
                <a:ea typeface="Calibri" pitchFamily="34" charset="-122"/>
                <a:cs typeface="Calibri" pitchFamily="34" charset="-120"/>
              </a:rPr>
              <a:t>3 / 8</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4000" b="1" dirty="0">
                <a:solidFill>
                  <a:srgbClr val="15203D"/>
                </a:solidFill>
                <a:latin typeface="Cambria" pitchFamily="34" charset="0"/>
                <a:ea typeface="Cambria" pitchFamily="34" charset="-122"/>
                <a:cs typeface="Cambria" pitchFamily="34" charset="-120"/>
              </a:rPr>
              <a:t>La IA que lee los chats</a:t>
            </a:r>
            <a:endParaRPr lang="en-US" sz="4000" dirty="0"/>
          </a:p>
        </p:txBody>
      </p:sp>
      <p:sp>
        <p:nvSpPr>
          <p:cNvPr id="3" name="Text 1"/>
          <p:cNvSpPr txBox="1"/>
          <p:nvPr/>
        </p:nvSpPr>
        <p:spPr>
          <a:xfrm>
            <a:off x="640080" y="1234440"/>
            <a:ext cx="5120640" cy="411480"/>
          </a:xfrm>
          <a:prstGeom prst="rect">
            <a:avLst/>
          </a:prstGeom>
          <a:noFill/>
          <a:ln/>
        </p:spPr>
        <p:txBody>
          <a:bodyPr wrap="square" lIns="0" tIns="0" rIns="0" bIns="0" rtlCol="0" anchor="ctr"/>
          <a:lstStyle/>
          <a:p>
            <a:pPr indent="0" marL="0">
              <a:buNone/>
            </a:pPr>
            <a:r>
              <a:rPr lang="en-US" sz="1800" dirty="0">
                <a:solidFill>
                  <a:srgbClr val="4A5578"/>
                </a:solidFill>
                <a:latin typeface="Calibri" pitchFamily="34" charset="0"/>
                <a:ea typeface="Calibri" pitchFamily="34" charset="-122"/>
                <a:cs typeface="Calibri" pitchFamily="34" charset="-120"/>
              </a:rPr>
              <a:t>Extrae de cada conversación:</a:t>
            </a:r>
            <a:endParaRPr lang="en-US" sz="1800" dirty="0"/>
          </a:p>
        </p:txBody>
      </p:sp>
      <p:sp>
        <p:nvSpPr>
          <p:cNvPr id="4" name="Shape 2"/>
          <p:cNvSpPr/>
          <p:nvPr/>
        </p:nvSpPr>
        <p:spPr>
          <a:xfrm>
            <a:off x="640080" y="1737360"/>
            <a:ext cx="2468880" cy="713232"/>
          </a:xfrm>
          <a:prstGeom prst="roundRect">
            <a:avLst>
              <a:gd name="adj" fmla="val 51282"/>
            </a:avLst>
          </a:prstGeom>
          <a:solidFill>
            <a:srgbClr val="EAF7F1"/>
          </a:solidFill>
          <a:ln w="15875">
            <a:solidFill>
              <a:srgbClr val="1E9E6E"/>
            </a:solidFill>
            <a:prstDash val="solid"/>
          </a:ln>
        </p:spPr>
      </p:sp>
      <p:sp>
        <p:nvSpPr>
          <p:cNvPr id="5" name="Text 3"/>
          <p:cNvSpPr txBox="1"/>
          <p:nvPr/>
        </p:nvSpPr>
        <p:spPr>
          <a:xfrm>
            <a:off x="640080" y="1737360"/>
            <a:ext cx="2468880" cy="713232"/>
          </a:xfrm>
          <a:prstGeom prst="rect">
            <a:avLst/>
          </a:prstGeom>
          <a:noFill/>
          <a:ln/>
        </p:spPr>
        <p:txBody>
          <a:bodyPr wrap="square" lIns="0" tIns="0" rIns="0" bIns="0" rtlCol="0" anchor="ctr"/>
          <a:lstStyle/>
          <a:p>
            <a:pPr algn="ctr" indent="0" marL="0">
              <a:buNone/>
            </a:pPr>
            <a:r>
              <a:rPr lang="en-US" sz="2200" b="1" dirty="0">
                <a:solidFill>
                  <a:srgbClr val="0E6B47"/>
                </a:solidFill>
                <a:latin typeface="Calibri" pitchFamily="34" charset="0"/>
                <a:ea typeface="Calibri" pitchFamily="34" charset="-122"/>
                <a:cs typeface="Calibri" pitchFamily="34" charset="-120"/>
              </a:rPr>
              <a:t>Moto</a:t>
            </a:r>
            <a:endParaRPr lang="en-US" sz="2200" dirty="0"/>
          </a:p>
        </p:txBody>
      </p:sp>
      <p:sp>
        <p:nvSpPr>
          <p:cNvPr id="6" name="Shape 4"/>
          <p:cNvSpPr/>
          <p:nvPr/>
        </p:nvSpPr>
        <p:spPr>
          <a:xfrm>
            <a:off x="3337560" y="1737360"/>
            <a:ext cx="2468880" cy="713232"/>
          </a:xfrm>
          <a:prstGeom prst="roundRect">
            <a:avLst>
              <a:gd name="adj" fmla="val 51282"/>
            </a:avLst>
          </a:prstGeom>
          <a:solidFill>
            <a:srgbClr val="EAF7F1"/>
          </a:solidFill>
          <a:ln w="15875">
            <a:solidFill>
              <a:srgbClr val="1E9E6E"/>
            </a:solidFill>
            <a:prstDash val="solid"/>
          </a:ln>
        </p:spPr>
      </p:sp>
      <p:sp>
        <p:nvSpPr>
          <p:cNvPr id="7" name="Text 5"/>
          <p:cNvSpPr txBox="1"/>
          <p:nvPr/>
        </p:nvSpPr>
        <p:spPr>
          <a:xfrm>
            <a:off x="3337560" y="1737360"/>
            <a:ext cx="2468880" cy="713232"/>
          </a:xfrm>
          <a:prstGeom prst="rect">
            <a:avLst/>
          </a:prstGeom>
          <a:noFill/>
          <a:ln/>
        </p:spPr>
        <p:txBody>
          <a:bodyPr wrap="square" lIns="0" tIns="0" rIns="0" bIns="0" rtlCol="0" anchor="ctr"/>
          <a:lstStyle/>
          <a:p>
            <a:pPr algn="ctr" indent="0" marL="0">
              <a:buNone/>
            </a:pPr>
            <a:r>
              <a:rPr lang="en-US" sz="2200" b="1" dirty="0">
                <a:solidFill>
                  <a:srgbClr val="0E6B47"/>
                </a:solidFill>
                <a:latin typeface="Calibri" pitchFamily="34" charset="0"/>
                <a:ea typeface="Calibri" pitchFamily="34" charset="-122"/>
                <a:cs typeface="Calibri" pitchFamily="34" charset="-120"/>
              </a:rPr>
              <a:t>Cuota inicial</a:t>
            </a:r>
            <a:endParaRPr lang="en-US" sz="2200" dirty="0"/>
          </a:p>
        </p:txBody>
      </p:sp>
      <p:sp>
        <p:nvSpPr>
          <p:cNvPr id="8" name="Shape 6"/>
          <p:cNvSpPr/>
          <p:nvPr/>
        </p:nvSpPr>
        <p:spPr>
          <a:xfrm>
            <a:off x="640080" y="2651760"/>
            <a:ext cx="2468880" cy="713232"/>
          </a:xfrm>
          <a:prstGeom prst="roundRect">
            <a:avLst>
              <a:gd name="adj" fmla="val 51282"/>
            </a:avLst>
          </a:prstGeom>
          <a:solidFill>
            <a:srgbClr val="EAF7F1"/>
          </a:solidFill>
          <a:ln w="15875">
            <a:solidFill>
              <a:srgbClr val="1E9E6E"/>
            </a:solidFill>
            <a:prstDash val="solid"/>
          </a:ln>
        </p:spPr>
      </p:sp>
      <p:sp>
        <p:nvSpPr>
          <p:cNvPr id="9" name="Text 7"/>
          <p:cNvSpPr txBox="1"/>
          <p:nvPr/>
        </p:nvSpPr>
        <p:spPr>
          <a:xfrm>
            <a:off x="640080" y="2651760"/>
            <a:ext cx="2468880" cy="713232"/>
          </a:xfrm>
          <a:prstGeom prst="rect">
            <a:avLst/>
          </a:prstGeom>
          <a:noFill/>
          <a:ln/>
        </p:spPr>
        <p:txBody>
          <a:bodyPr wrap="square" lIns="0" tIns="0" rIns="0" bIns="0" rtlCol="0" anchor="ctr"/>
          <a:lstStyle/>
          <a:p>
            <a:pPr algn="ctr" indent="0" marL="0">
              <a:buNone/>
            </a:pPr>
            <a:r>
              <a:rPr lang="en-US" sz="2200" b="1" dirty="0">
                <a:solidFill>
                  <a:srgbClr val="0E6B47"/>
                </a:solidFill>
                <a:latin typeface="Calibri" pitchFamily="34" charset="0"/>
                <a:ea typeface="Calibri" pitchFamily="34" charset="-122"/>
                <a:cs typeface="Calibri" pitchFamily="34" charset="-120"/>
              </a:rPr>
              <a:t>Forma de pago</a:t>
            </a:r>
            <a:endParaRPr lang="en-US" sz="2200" dirty="0"/>
          </a:p>
        </p:txBody>
      </p:sp>
      <p:sp>
        <p:nvSpPr>
          <p:cNvPr id="10" name="Shape 8"/>
          <p:cNvSpPr/>
          <p:nvPr/>
        </p:nvSpPr>
        <p:spPr>
          <a:xfrm>
            <a:off x="3337560" y="2651760"/>
            <a:ext cx="2468880" cy="713232"/>
          </a:xfrm>
          <a:prstGeom prst="roundRect">
            <a:avLst>
              <a:gd name="adj" fmla="val 51282"/>
            </a:avLst>
          </a:prstGeom>
          <a:solidFill>
            <a:srgbClr val="EAF7F1"/>
          </a:solidFill>
          <a:ln w="15875">
            <a:solidFill>
              <a:srgbClr val="1E9E6E"/>
            </a:solidFill>
            <a:prstDash val="solid"/>
          </a:ln>
        </p:spPr>
      </p:sp>
      <p:sp>
        <p:nvSpPr>
          <p:cNvPr id="11" name="Text 9"/>
          <p:cNvSpPr txBox="1"/>
          <p:nvPr/>
        </p:nvSpPr>
        <p:spPr>
          <a:xfrm>
            <a:off x="3337560" y="2651760"/>
            <a:ext cx="2468880" cy="713232"/>
          </a:xfrm>
          <a:prstGeom prst="rect">
            <a:avLst/>
          </a:prstGeom>
          <a:noFill/>
          <a:ln/>
        </p:spPr>
        <p:txBody>
          <a:bodyPr wrap="square" lIns="0" tIns="0" rIns="0" bIns="0" rtlCol="0" anchor="ctr"/>
          <a:lstStyle/>
          <a:p>
            <a:pPr algn="ctr" indent="0" marL="0">
              <a:buNone/>
            </a:pPr>
            <a:r>
              <a:rPr lang="en-US" sz="2200" b="1" dirty="0">
                <a:solidFill>
                  <a:srgbClr val="0E6B47"/>
                </a:solidFill>
                <a:latin typeface="Calibri" pitchFamily="34" charset="0"/>
                <a:ea typeface="Calibri" pitchFamily="34" charset="-122"/>
                <a:cs typeface="Calibri" pitchFamily="34" charset="-120"/>
              </a:rPr>
              <a:t>Intención</a:t>
            </a:r>
            <a:endParaRPr lang="en-US" sz="2200" dirty="0"/>
          </a:p>
        </p:txBody>
      </p:sp>
      <p:sp>
        <p:nvSpPr>
          <p:cNvPr id="12" name="Shape 10"/>
          <p:cNvSpPr/>
          <p:nvPr/>
        </p:nvSpPr>
        <p:spPr>
          <a:xfrm>
            <a:off x="640080" y="3566160"/>
            <a:ext cx="2468880" cy="713232"/>
          </a:xfrm>
          <a:prstGeom prst="roundRect">
            <a:avLst>
              <a:gd name="adj" fmla="val 51282"/>
            </a:avLst>
          </a:prstGeom>
          <a:solidFill>
            <a:srgbClr val="EAF7F1"/>
          </a:solidFill>
          <a:ln w="15875">
            <a:solidFill>
              <a:srgbClr val="1E9E6E"/>
            </a:solidFill>
            <a:prstDash val="solid"/>
          </a:ln>
        </p:spPr>
      </p:sp>
      <p:sp>
        <p:nvSpPr>
          <p:cNvPr id="13" name="Text 11"/>
          <p:cNvSpPr txBox="1"/>
          <p:nvPr/>
        </p:nvSpPr>
        <p:spPr>
          <a:xfrm>
            <a:off x="640080" y="3566160"/>
            <a:ext cx="2468880" cy="713232"/>
          </a:xfrm>
          <a:prstGeom prst="rect">
            <a:avLst/>
          </a:prstGeom>
          <a:noFill/>
          <a:ln/>
        </p:spPr>
        <p:txBody>
          <a:bodyPr wrap="square" lIns="0" tIns="0" rIns="0" bIns="0" rtlCol="0" anchor="ctr"/>
          <a:lstStyle/>
          <a:p>
            <a:pPr algn="ctr" indent="0" marL="0">
              <a:buNone/>
            </a:pPr>
            <a:r>
              <a:rPr lang="en-US" sz="2200" b="1" dirty="0">
                <a:solidFill>
                  <a:srgbClr val="0E6B47"/>
                </a:solidFill>
                <a:latin typeface="Calibri" pitchFamily="34" charset="0"/>
                <a:ea typeface="Calibri" pitchFamily="34" charset="-122"/>
                <a:cs typeface="Calibri" pitchFamily="34" charset="-120"/>
              </a:rPr>
              <a:t>Objeción</a:t>
            </a:r>
            <a:endParaRPr lang="en-US" sz="2200" dirty="0"/>
          </a:p>
        </p:txBody>
      </p:sp>
      <p:sp>
        <p:nvSpPr>
          <p:cNvPr id="14" name="Shape 12"/>
          <p:cNvSpPr/>
          <p:nvPr/>
        </p:nvSpPr>
        <p:spPr>
          <a:xfrm>
            <a:off x="3337560" y="3566160"/>
            <a:ext cx="2468880" cy="713232"/>
          </a:xfrm>
          <a:prstGeom prst="roundRect">
            <a:avLst>
              <a:gd name="adj" fmla="val 51282"/>
            </a:avLst>
          </a:prstGeom>
          <a:solidFill>
            <a:srgbClr val="EAF7F1"/>
          </a:solidFill>
          <a:ln w="15875">
            <a:solidFill>
              <a:srgbClr val="1E9E6E"/>
            </a:solidFill>
            <a:prstDash val="solid"/>
          </a:ln>
        </p:spPr>
      </p:sp>
      <p:sp>
        <p:nvSpPr>
          <p:cNvPr id="15" name="Text 13"/>
          <p:cNvSpPr txBox="1"/>
          <p:nvPr/>
        </p:nvSpPr>
        <p:spPr>
          <a:xfrm>
            <a:off x="3337560" y="3566160"/>
            <a:ext cx="2468880" cy="713232"/>
          </a:xfrm>
          <a:prstGeom prst="rect">
            <a:avLst/>
          </a:prstGeom>
          <a:noFill/>
          <a:ln/>
        </p:spPr>
        <p:txBody>
          <a:bodyPr wrap="square" lIns="0" tIns="0" rIns="0" bIns="0" rtlCol="0" anchor="ctr"/>
          <a:lstStyle/>
          <a:p>
            <a:pPr algn="ctr" indent="0" marL="0">
              <a:buNone/>
            </a:pPr>
            <a:r>
              <a:rPr lang="en-US" sz="2200" b="1" dirty="0">
                <a:solidFill>
                  <a:srgbClr val="0E6B47"/>
                </a:solidFill>
                <a:latin typeface="Calibri" pitchFamily="34" charset="0"/>
                <a:ea typeface="Calibri" pitchFamily="34" charset="-122"/>
                <a:cs typeface="Calibri" pitchFamily="34" charset="-120"/>
              </a:rPr>
              <a:t>Cita</a:t>
            </a:r>
            <a:endParaRPr lang="en-US" sz="2200" dirty="0"/>
          </a:p>
        </p:txBody>
      </p:sp>
      <p:sp>
        <p:nvSpPr>
          <p:cNvPr id="16" name="Shape 14"/>
          <p:cNvSpPr/>
          <p:nvPr/>
        </p:nvSpPr>
        <p:spPr>
          <a:xfrm>
            <a:off x="6400800" y="1737360"/>
            <a:ext cx="5120640" cy="1965960"/>
          </a:xfrm>
          <a:prstGeom prst="roundRect">
            <a:avLst>
              <a:gd name="adj" fmla="val 6512"/>
            </a:avLst>
          </a:prstGeom>
          <a:solidFill>
            <a:srgbClr val="15203D"/>
          </a:solidFill>
          <a:ln/>
        </p:spPr>
      </p:sp>
      <p:sp>
        <p:nvSpPr>
          <p:cNvPr id="17" name="Text 15"/>
          <p:cNvSpPr txBox="1"/>
          <p:nvPr/>
        </p:nvSpPr>
        <p:spPr>
          <a:xfrm>
            <a:off x="6400800" y="1874520"/>
            <a:ext cx="5120640" cy="100584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665/665</a:t>
            </a:r>
            <a:endParaRPr lang="en-US" sz="5800" dirty="0"/>
          </a:p>
        </p:txBody>
      </p:sp>
      <p:sp>
        <p:nvSpPr>
          <p:cNvPr id="18" name="Text 16"/>
          <p:cNvSpPr txBox="1"/>
          <p:nvPr/>
        </p:nvSpPr>
        <p:spPr>
          <a:xfrm>
            <a:off x="6675120" y="2880360"/>
            <a:ext cx="4572000" cy="640080"/>
          </a:xfrm>
          <a:prstGeom prst="rect">
            <a:avLst/>
          </a:prstGeom>
          <a:noFill/>
          <a:ln/>
        </p:spPr>
        <p:txBody>
          <a:bodyPr wrap="square" lIns="0" tIns="0" rIns="0" bIns="0" rtlCol="0" anchor="ctr"/>
          <a:lstStyle/>
          <a:p>
            <a:pPr algn="ctr" indent="0" marL="0">
              <a:buNone/>
            </a:pPr>
            <a:r>
              <a:rPr lang="en-US" sz="2000" dirty="0">
                <a:solidFill>
                  <a:srgbClr val="CADCFC"/>
                </a:solidFill>
                <a:latin typeface="Calibri" pitchFamily="34" charset="0"/>
                <a:ea typeface="Calibri" pitchFamily="34" charset="-122"/>
                <a:cs typeface="Calibri" pitchFamily="34" charset="-120"/>
              </a:rPr>
              <a:t>conversaciones leídas, 0 fallos</a:t>
            </a:r>
            <a:endParaRPr lang="en-US" sz="2000" dirty="0"/>
          </a:p>
        </p:txBody>
      </p:sp>
      <p:sp>
        <p:nvSpPr>
          <p:cNvPr id="19" name="Shape 17"/>
          <p:cNvSpPr/>
          <p:nvPr/>
        </p:nvSpPr>
        <p:spPr>
          <a:xfrm>
            <a:off x="6400800" y="3931920"/>
            <a:ext cx="5120640" cy="1417320"/>
          </a:xfrm>
          <a:prstGeom prst="roundRect">
            <a:avLst>
              <a:gd name="adj" fmla="val 9032"/>
            </a:avLst>
          </a:prstGeom>
          <a:solidFill>
            <a:srgbClr val="FFFFFF"/>
          </a:solidFill>
          <a:ln w="25400">
            <a:solidFill>
              <a:srgbClr val="15203D"/>
            </a:solidFill>
            <a:prstDash val="solid"/>
          </a:ln>
        </p:spPr>
      </p:sp>
      <p:sp>
        <p:nvSpPr>
          <p:cNvPr id="20" name="Text 18"/>
          <p:cNvSpPr txBox="1"/>
          <p:nvPr/>
        </p:nvSpPr>
        <p:spPr>
          <a:xfrm>
            <a:off x="6400800" y="4023360"/>
            <a:ext cx="5120640" cy="731520"/>
          </a:xfrm>
          <a:prstGeom prst="rect">
            <a:avLst/>
          </a:prstGeom>
          <a:noFill/>
          <a:ln/>
        </p:spPr>
        <p:txBody>
          <a:bodyPr wrap="square" lIns="0" tIns="0" rIns="0" bIns="0" rtlCol="0" anchor="ctr"/>
          <a:lstStyle/>
          <a:p>
            <a:pPr algn="ctr" indent="0" marL="0">
              <a:buNone/>
            </a:pPr>
            <a:r>
              <a:rPr lang="en-US" sz="4000" b="1" dirty="0">
                <a:solidFill>
                  <a:srgbClr val="15203D"/>
                </a:solidFill>
                <a:latin typeface="Cambria" pitchFamily="34" charset="0"/>
                <a:ea typeface="Cambria" pitchFamily="34" charset="-122"/>
                <a:cs typeface="Cambria" pitchFamily="34" charset="-120"/>
              </a:rPr>
              <a:t>6/6</a:t>
            </a:r>
            <a:endParaRPr lang="en-US" sz="4000" dirty="0"/>
          </a:p>
        </p:txBody>
      </p:sp>
      <p:sp>
        <p:nvSpPr>
          <p:cNvPr id="21" name="Text 19"/>
          <p:cNvSpPr txBox="1"/>
          <p:nvPr/>
        </p:nvSpPr>
        <p:spPr>
          <a:xfrm>
            <a:off x="6675120" y="4754880"/>
            <a:ext cx="4572000" cy="502920"/>
          </a:xfrm>
          <a:prstGeom prst="rect">
            <a:avLst/>
          </a:prstGeom>
          <a:noFill/>
          <a:ln/>
        </p:spPr>
        <p:txBody>
          <a:bodyPr wrap="square" lIns="0" tIns="0" rIns="0" bIns="0" rtlCol="0" anchor="ctr"/>
          <a:lstStyle/>
          <a:p>
            <a:pPr algn="ctr" indent="0" marL="0">
              <a:buNone/>
            </a:pPr>
            <a:r>
              <a:rPr lang="en-US" sz="1800" dirty="0">
                <a:solidFill>
                  <a:srgbClr val="4A5578"/>
                </a:solidFill>
                <a:latin typeface="Calibri" pitchFamily="34" charset="0"/>
                <a:ea typeface="Calibri" pitchFamily="34" charset="-122"/>
                <a:cs typeface="Calibri" pitchFamily="34" charset="-120"/>
              </a:rPr>
              <a:t>validación manual coherente</a:t>
            </a:r>
            <a:endParaRPr lang="en-US" sz="1800" dirty="0"/>
          </a:p>
        </p:txBody>
      </p:sp>
      <p:sp>
        <p:nvSpPr>
          <p:cNvPr id="22" name="Text 20"/>
          <p:cNvSpPr txBox="1"/>
          <p:nvPr/>
        </p:nvSpPr>
        <p:spPr>
          <a:xfrm>
            <a:off x="11155680" y="6400800"/>
            <a:ext cx="731520" cy="320040"/>
          </a:xfrm>
          <a:prstGeom prst="rect">
            <a:avLst/>
          </a:prstGeom>
          <a:noFill/>
          <a:ln/>
        </p:spPr>
        <p:txBody>
          <a:bodyPr wrap="square" lIns="0" tIns="0" rIns="0" bIns="0" rtlCol="0" anchor="ctr"/>
          <a:lstStyle/>
          <a:p>
            <a:pPr algn="r" indent="0" marL="0">
              <a:buNone/>
            </a:pPr>
            <a:r>
              <a:rPr lang="en-US" sz="1100" dirty="0">
                <a:solidFill>
                  <a:srgbClr val="9AA5BD"/>
                </a:solidFill>
                <a:latin typeface="Calibri" pitchFamily="34" charset="0"/>
                <a:ea typeface="Calibri" pitchFamily="34" charset="-122"/>
                <a:cs typeface="Calibri" pitchFamily="34" charset="-120"/>
              </a:rPr>
              <a:t>4 / 8</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600" b="1" dirty="0">
                <a:solidFill>
                  <a:srgbClr val="15203D"/>
                </a:solidFill>
                <a:latin typeface="Cambria" pitchFamily="34" charset="0"/>
                <a:ea typeface="Cambria" pitchFamily="34" charset="-122"/>
                <a:cs typeface="Cambria" pitchFamily="34" charset="-120"/>
              </a:rPr>
              <a:t>El score separa a los que cierran</a:t>
            </a:r>
            <a:endParaRPr lang="en-US" sz="3600" dirty="0"/>
          </a:p>
        </p:txBody>
      </p:sp>
      <p:graphicFrame>
        <p:nvGraphicFramePr>
          <p:cNvPr id="3" name="Chart 0" descr=""/>
          <p:cNvGraphicFramePr/>
          <p:nvPr/>
        </p:nvGraphicFramePr>
        <p:xfrm>
          <a:off x="640080" y="1600200"/>
          <a:ext cx="6675120" cy="43891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635240" y="1737360"/>
            <a:ext cx="3886200" cy="2651760"/>
          </a:xfrm>
          <a:prstGeom prst="roundRect">
            <a:avLst>
              <a:gd name="adj" fmla="val 5517"/>
            </a:avLst>
          </a:prstGeom>
          <a:solidFill>
            <a:srgbClr val="15203D"/>
          </a:solidFill>
          <a:ln/>
        </p:spPr>
      </p:sp>
      <p:sp>
        <p:nvSpPr>
          <p:cNvPr id="5" name="Text 2"/>
          <p:cNvSpPr txBox="1"/>
          <p:nvPr/>
        </p:nvSpPr>
        <p:spPr>
          <a:xfrm>
            <a:off x="7635240" y="1920240"/>
            <a:ext cx="3886200" cy="1280160"/>
          </a:xfrm>
          <a:prstGeom prst="rect">
            <a:avLst/>
          </a:prstGeom>
          <a:noFill/>
          <a:ln/>
        </p:spPr>
        <p:txBody>
          <a:bodyPr wrap="square" lIns="0" tIns="0" rIns="0" bIns="0" rtlCol="0" anchor="ctr"/>
          <a:lstStyle/>
          <a:p>
            <a:pPr algn="ctr" indent="0" marL="0">
              <a:buNone/>
            </a:pPr>
            <a:r>
              <a:rPr lang="en-US" sz="7200" b="1" dirty="0">
                <a:solidFill>
                  <a:srgbClr val="FFFFFF"/>
                </a:solidFill>
                <a:latin typeface="Cambria" pitchFamily="34" charset="0"/>
                <a:ea typeface="Cambria" pitchFamily="34" charset="-122"/>
                <a:cs typeface="Cambria" pitchFamily="34" charset="-120"/>
              </a:rPr>
              <a:t>2,5×</a:t>
            </a:r>
            <a:endParaRPr lang="en-US" sz="7200" dirty="0"/>
          </a:p>
        </p:txBody>
      </p:sp>
      <p:sp>
        <p:nvSpPr>
          <p:cNvPr id="6" name="Text 3"/>
          <p:cNvSpPr txBox="1"/>
          <p:nvPr/>
        </p:nvSpPr>
        <p:spPr>
          <a:xfrm>
            <a:off x="7955280" y="3200400"/>
            <a:ext cx="3246120" cy="1005840"/>
          </a:xfrm>
          <a:prstGeom prst="rect">
            <a:avLst/>
          </a:prstGeom>
          <a:noFill/>
          <a:ln/>
        </p:spPr>
        <p:txBody>
          <a:bodyPr wrap="square" lIns="0" tIns="0" rIns="0" bIns="0" rtlCol="0" anchor="ctr"/>
          <a:lstStyle/>
          <a:p>
            <a:pPr algn="ctr" indent="0" marL="0">
              <a:lnSpc>
                <a:spcPct val="110000"/>
              </a:lnSpc>
              <a:buNone/>
            </a:pPr>
            <a:r>
              <a:rPr lang="en-US" sz="2000" dirty="0">
                <a:solidFill>
                  <a:srgbClr val="CADCFC"/>
                </a:solidFill>
                <a:latin typeface="Calibri" pitchFamily="34" charset="0"/>
                <a:ea typeface="Calibri" pitchFamily="34" charset="-122"/>
                <a:cs typeface="Calibri" pitchFamily="34" charset="-120"/>
              </a:rPr>
              <a:t>Alta cierra el doble y medio</a:t>
            </a:r>
            <a:endParaRPr lang="en-US" sz="2000" dirty="0"/>
          </a:p>
          <a:p>
            <a:pPr algn="ctr" indent="0" marL="0">
              <a:lnSpc>
                <a:spcPct val="110000"/>
              </a:lnSpc>
              <a:buNone/>
            </a:pPr>
            <a:r>
              <a:rPr lang="en-US" sz="2000" dirty="0">
                <a:solidFill>
                  <a:srgbClr val="CADCFC"/>
                </a:solidFill>
                <a:latin typeface="Calibri" pitchFamily="34" charset="0"/>
                <a:ea typeface="Calibri" pitchFamily="34" charset="-122"/>
                <a:cs typeface="Calibri" pitchFamily="34" charset="-120"/>
              </a:rPr>
              <a:t>que Baja</a:t>
            </a:r>
            <a:endParaRPr lang="en-US" sz="2000" dirty="0"/>
          </a:p>
        </p:txBody>
      </p:sp>
      <p:sp>
        <p:nvSpPr>
          <p:cNvPr id="7" name="Text 4"/>
          <p:cNvSpPr txBox="1"/>
          <p:nvPr/>
        </p:nvSpPr>
        <p:spPr>
          <a:xfrm>
            <a:off x="7635240" y="4663440"/>
            <a:ext cx="3886200" cy="1280160"/>
          </a:xfrm>
          <a:prstGeom prst="rect">
            <a:avLst/>
          </a:prstGeom>
          <a:noFill/>
          <a:ln/>
        </p:spPr>
        <p:txBody>
          <a:bodyPr wrap="square" lIns="0" tIns="0" rIns="0" bIns="0" rtlCol="0" anchor="ctr"/>
          <a:lstStyle/>
          <a:p>
            <a:pPr algn="ctr" indent="0" marL="0">
              <a:lnSpc>
                <a:spcPct val="115000"/>
              </a:lnSpc>
              <a:buNone/>
            </a:pPr>
            <a:r>
              <a:rPr lang="en-US" sz="1700" i="1" dirty="0">
                <a:solidFill>
                  <a:srgbClr val="4A5578"/>
                </a:solidFill>
                <a:latin typeface="Calibri" pitchFamily="34" charset="0"/>
                <a:ea typeface="Calibri" pitchFamily="34" charset="-122"/>
                <a:cs typeface="Calibri" pitchFamily="34" charset="-120"/>
              </a:rPr>
              <a:t>Explicable: cada punto viene</a:t>
            </a:r>
            <a:endParaRPr lang="en-US" sz="1700" dirty="0"/>
          </a:p>
          <a:p>
            <a:pPr algn="ctr" indent="0" marL="0">
              <a:lnSpc>
                <a:spcPct val="115000"/>
              </a:lnSpc>
              <a:buNone/>
            </a:pPr>
            <a:r>
              <a:rPr lang="en-US" sz="1700" i="1" dirty="0">
                <a:solidFill>
                  <a:srgbClr val="4A5578"/>
                </a:solidFill>
                <a:latin typeface="Calibri" pitchFamily="34" charset="0"/>
                <a:ea typeface="Calibri" pitchFamily="34" charset="-122"/>
                <a:cs typeface="Calibri" pitchFamily="34" charset="-120"/>
              </a:rPr>
              <a:t>de 2.200 cierres reales,</a:t>
            </a:r>
            <a:endParaRPr lang="en-US" sz="1700" dirty="0"/>
          </a:p>
          <a:p>
            <a:pPr algn="ctr" indent="0" marL="0">
              <a:lnSpc>
                <a:spcPct val="115000"/>
              </a:lnSpc>
              <a:buNone/>
            </a:pPr>
            <a:r>
              <a:rPr lang="en-US" sz="1700" i="1" dirty="0">
                <a:solidFill>
                  <a:srgbClr val="4A5578"/>
                </a:solidFill>
                <a:latin typeface="Calibri" pitchFamily="34" charset="0"/>
                <a:ea typeface="Calibri" pitchFamily="34" charset="-122"/>
                <a:cs typeface="Calibri" pitchFamily="34" charset="-120"/>
              </a:rPr>
              <a:t>no de una caja negra.</a:t>
            </a:r>
            <a:endParaRPr lang="en-US" sz="1700" dirty="0"/>
          </a:p>
        </p:txBody>
      </p:sp>
      <p:sp>
        <p:nvSpPr>
          <p:cNvPr id="8" name="Text 5"/>
          <p:cNvSpPr txBox="1"/>
          <p:nvPr/>
        </p:nvSpPr>
        <p:spPr>
          <a:xfrm>
            <a:off x="11155680" y="6400800"/>
            <a:ext cx="731520" cy="320040"/>
          </a:xfrm>
          <a:prstGeom prst="rect">
            <a:avLst/>
          </a:prstGeom>
          <a:noFill/>
          <a:ln/>
        </p:spPr>
        <p:txBody>
          <a:bodyPr wrap="square" lIns="0" tIns="0" rIns="0" bIns="0" rtlCol="0" anchor="ctr"/>
          <a:lstStyle/>
          <a:p>
            <a:pPr algn="r" indent="0" marL="0">
              <a:buNone/>
            </a:pPr>
            <a:r>
              <a:rPr lang="en-US" sz="1100" dirty="0">
                <a:solidFill>
                  <a:srgbClr val="9AA5BD"/>
                </a:solidFill>
                <a:latin typeface="Calibri" pitchFamily="34" charset="0"/>
                <a:ea typeface="Calibri" pitchFamily="34" charset="-122"/>
                <a:cs typeface="Calibri" pitchFamily="34" charset="-120"/>
              </a:rPr>
              <a:t>5 / 8</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640080" y="411480"/>
            <a:ext cx="7772400" cy="731520"/>
          </a:xfrm>
          <a:prstGeom prst="rect">
            <a:avLst/>
          </a:prstGeom>
          <a:noFill/>
          <a:ln/>
        </p:spPr>
        <p:txBody>
          <a:bodyPr wrap="square" lIns="0" tIns="0" rIns="0" bIns="0" rtlCol="0" anchor="ctr"/>
          <a:lstStyle/>
          <a:p>
            <a:pPr indent="0" marL="0">
              <a:buNone/>
            </a:pPr>
            <a:r>
              <a:rPr lang="en-US" sz="4000" b="1" dirty="0">
                <a:solidFill>
                  <a:srgbClr val="15203D"/>
                </a:solidFill>
                <a:latin typeface="Cambria" pitchFamily="34" charset="0"/>
                <a:ea typeface="Cambria" pitchFamily="34" charset="-122"/>
                <a:cs typeface="Cambria" pitchFamily="34" charset="-120"/>
              </a:rPr>
              <a:t>La vista del asesor</a:t>
            </a:r>
            <a:endParaRPr lang="en-US" sz="4000" dirty="0"/>
          </a:p>
        </p:txBody>
      </p:sp>
      <p:sp>
        <p:nvSpPr>
          <p:cNvPr id="3" name="Text 1"/>
          <p:cNvSpPr txBox="1"/>
          <p:nvPr/>
        </p:nvSpPr>
        <p:spPr>
          <a:xfrm>
            <a:off x="640080" y="1097280"/>
            <a:ext cx="10881360" cy="502920"/>
          </a:xfrm>
          <a:prstGeom prst="rect">
            <a:avLst/>
          </a:prstGeom>
          <a:noFill/>
          <a:ln/>
        </p:spPr>
        <p:txBody>
          <a:bodyPr wrap="square" lIns="0" tIns="0" rIns="0" bIns="0" rtlCol="0" anchor="ctr"/>
          <a:lstStyle/>
          <a:p>
            <a:pPr indent="0" marL="0">
              <a:buNone/>
            </a:pPr>
            <a:r>
              <a:rPr lang="en-US" sz="2200" dirty="0">
                <a:solidFill>
                  <a:srgbClr val="4A5578"/>
                </a:solidFill>
                <a:latin typeface="Calibri" pitchFamily="34" charset="0"/>
                <a:ea typeface="Calibri" pitchFamily="34" charset="-122"/>
                <a:cs typeface="Calibri" pitchFamily="34" charset="-120"/>
              </a:rPr>
              <a:t>Mis leads de hoy — ordenados por prioridad, con el motivo en español.</a:t>
            </a:r>
            <a:endParaRPr lang="en-US" sz="2200" dirty="0"/>
          </a:p>
        </p:txBody>
      </p:sp>
      <p:sp>
        <p:nvSpPr>
          <p:cNvPr id="4" name="Shape 2"/>
          <p:cNvSpPr/>
          <p:nvPr/>
        </p:nvSpPr>
        <p:spPr>
          <a:xfrm>
            <a:off x="1929384" y="1554480"/>
            <a:ext cx="8302752" cy="4710303"/>
          </a:xfrm>
          <a:prstGeom prst="roundRect">
            <a:avLst>
              <a:gd name="adj" fmla="val 777"/>
            </a:avLst>
          </a:prstGeom>
          <a:ln w="38100">
            <a:solidFill>
              <a:srgbClr val="15203D"/>
            </a:solidFill>
            <a:prstDash val="solid"/>
          </a:ln>
          <a:effectLst>
            <a:outerShdw sx="100000" sy="100000" kx="0" ky="0" algn="bl" rotWithShape="0" blurRad="127000" dist="50800" dir="5400000">
              <a:srgbClr val="1E2761">
                <a:alpha val="20000"/>
              </a:srgbClr>
            </a:outerShdw>
          </a:effectLst>
        </p:spPr>
      </p:sp>
      <p:pic>
        <p:nvPicPr>
          <p:cNvPr id="5" name="Image 0" descr="/mnt/user-data/uploads/vista_leads_alta.png">    </p:cNvPr>
          <p:cNvPicPr>
            <a:picLocks noChangeAspect="1"/>
          </p:cNvPicPr>
          <p:nvPr/>
        </p:nvPicPr>
        <p:blipFill>
          <a:blip r:embed="rId1"/>
          <a:stretch>
            <a:fillRect/>
          </a:stretch>
        </p:blipFill>
        <p:spPr>
          <a:xfrm>
            <a:off x="1975104" y="1600200"/>
            <a:ext cx="8211312" cy="4618863"/>
          </a:xfrm>
          <a:prstGeom prst="rect">
            <a:avLst/>
          </a:prstGeom>
        </p:spPr>
      </p:pic>
      <p:sp>
        <p:nvSpPr>
          <p:cNvPr id="6" name="Text 3"/>
          <p:cNvSpPr txBox="1"/>
          <p:nvPr/>
        </p:nvSpPr>
        <p:spPr>
          <a:xfrm>
            <a:off x="1975104" y="6356223"/>
            <a:ext cx="8211312" cy="365760"/>
          </a:xfrm>
          <a:prstGeom prst="rect">
            <a:avLst/>
          </a:prstGeom>
          <a:noFill/>
          <a:ln/>
        </p:spPr>
        <p:txBody>
          <a:bodyPr wrap="square" lIns="0" tIns="0" rIns="0" bIns="0" rtlCol="0" anchor="ctr"/>
          <a:lstStyle/>
          <a:p>
            <a:pPr algn="ctr" indent="0" marL="0">
              <a:buNone/>
            </a:pPr>
            <a:r>
              <a:rPr lang="en-US" sz="1600" i="1" dirty="0">
                <a:solidFill>
                  <a:srgbClr val="4A5578"/>
                </a:solidFill>
                <a:latin typeface="Calibri" pitchFamily="34" charset="0"/>
                <a:ea typeface="Calibri" pitchFamily="34" charset="-122"/>
                <a:cs typeface="Calibri" pitchFamily="34" charset="-120"/>
              </a:rPr>
              <a:t>URL pública del despliegue en Cloud Run</a:t>
            </a:r>
            <a:endParaRPr lang="en-US" sz="1600" dirty="0"/>
          </a:p>
        </p:txBody>
      </p:sp>
      <p:sp>
        <p:nvSpPr>
          <p:cNvPr id="7" name="Text 4"/>
          <p:cNvSpPr txBox="1"/>
          <p:nvPr/>
        </p:nvSpPr>
        <p:spPr>
          <a:xfrm>
            <a:off x="11155680" y="6400800"/>
            <a:ext cx="731520" cy="320040"/>
          </a:xfrm>
          <a:prstGeom prst="rect">
            <a:avLst/>
          </a:prstGeom>
          <a:noFill/>
          <a:ln/>
        </p:spPr>
        <p:txBody>
          <a:bodyPr wrap="square" lIns="0" tIns="0" rIns="0" bIns="0" rtlCol="0" anchor="ctr"/>
          <a:lstStyle/>
          <a:p>
            <a:pPr algn="r" indent="0" marL="0">
              <a:buNone/>
            </a:pPr>
            <a:r>
              <a:rPr lang="en-US" sz="1100" dirty="0">
                <a:solidFill>
                  <a:srgbClr val="9AA5BD"/>
                </a:solidFill>
                <a:latin typeface="Calibri" pitchFamily="34" charset="0"/>
                <a:ea typeface="Calibri" pitchFamily="34" charset="-122"/>
                <a:cs typeface="Calibri" pitchFamily="34" charset="-120"/>
              </a:rPr>
              <a:t>6 / 8</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4000" b="1" dirty="0">
                <a:solidFill>
                  <a:srgbClr val="15203D"/>
                </a:solidFill>
                <a:latin typeface="Cambria" pitchFamily="34" charset="0"/>
                <a:ea typeface="Cambria" pitchFamily="34" charset="-122"/>
                <a:cs typeface="Cambria" pitchFamily="34" charset="-120"/>
              </a:rPr>
              <a:t>Automatización y aislamiento</a:t>
            </a:r>
            <a:endParaRPr lang="en-US" sz="4000" dirty="0"/>
          </a:p>
        </p:txBody>
      </p:sp>
      <p:sp>
        <p:nvSpPr>
          <p:cNvPr id="3" name="Shape 1"/>
          <p:cNvSpPr/>
          <p:nvPr/>
        </p:nvSpPr>
        <p:spPr>
          <a:xfrm>
            <a:off x="822960" y="2221992"/>
            <a:ext cx="914400" cy="914400"/>
          </a:xfrm>
          <a:prstGeom prst="ellipse">
            <a:avLst/>
          </a:prstGeom>
          <a:solidFill>
            <a:srgbClr val="15203D"/>
          </a:solidFill>
          <a:ln/>
        </p:spPr>
      </p:sp>
      <p:sp>
        <p:nvSpPr>
          <p:cNvPr id="4" name="Text 2"/>
          <p:cNvSpPr txBox="1"/>
          <p:nvPr/>
        </p:nvSpPr>
        <p:spPr>
          <a:xfrm>
            <a:off x="822960" y="2221992"/>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1</a:t>
            </a:r>
            <a:endParaRPr lang="en-US" sz="3400" dirty="0"/>
          </a:p>
        </p:txBody>
      </p:sp>
      <p:sp>
        <p:nvSpPr>
          <p:cNvPr id="5" name="Text 3"/>
          <p:cNvSpPr txBox="1"/>
          <p:nvPr/>
        </p:nvSpPr>
        <p:spPr>
          <a:xfrm>
            <a:off x="2011680" y="1965960"/>
            <a:ext cx="9144000" cy="594360"/>
          </a:xfrm>
          <a:prstGeom prst="rect">
            <a:avLst/>
          </a:prstGeom>
          <a:noFill/>
          <a:ln/>
        </p:spPr>
        <p:txBody>
          <a:bodyPr wrap="square" lIns="0" tIns="0" rIns="0" bIns="0" rtlCol="0" anchor="ctr"/>
          <a:lstStyle/>
          <a:p>
            <a:pPr indent="0" marL="0">
              <a:buNone/>
            </a:pPr>
            <a:r>
              <a:rPr lang="en-US" sz="2700" b="1" dirty="0">
                <a:solidFill>
                  <a:srgbClr val="15203D"/>
                </a:solidFill>
                <a:latin typeface="Calibri" pitchFamily="34" charset="0"/>
                <a:ea typeface="Calibri" pitchFamily="34" charset="-122"/>
                <a:cs typeface="Calibri" pitchFamily="34" charset="-120"/>
              </a:rPr>
              <a:t>Un solo disparo</a:t>
            </a:r>
            <a:endParaRPr lang="en-US" sz="2700" dirty="0"/>
          </a:p>
        </p:txBody>
      </p:sp>
      <p:sp>
        <p:nvSpPr>
          <p:cNvPr id="6" name="Text 4"/>
          <p:cNvSpPr txBox="1"/>
          <p:nvPr/>
        </p:nvSpPr>
        <p:spPr>
          <a:xfrm>
            <a:off x="2011680" y="2560320"/>
            <a:ext cx="9144000" cy="777240"/>
          </a:xfrm>
          <a:prstGeom prst="rect">
            <a:avLst/>
          </a:prstGeom>
          <a:noFill/>
          <a:ln/>
        </p:spPr>
        <p:txBody>
          <a:bodyPr wrap="square" lIns="0" tIns="0" rIns="0" bIns="0" rtlCol="0" anchor="ctr"/>
          <a:lstStyle/>
          <a:p>
            <a:pPr indent="0" marL="0">
              <a:buNone/>
            </a:pPr>
            <a:r>
              <a:rPr lang="en-US" sz="2000" dirty="0">
                <a:solidFill>
                  <a:srgbClr val="4A5578"/>
                </a:solidFill>
                <a:latin typeface="Calibri" pitchFamily="34" charset="0"/>
                <a:ea typeface="Calibri" pitchFamily="34" charset="-122"/>
                <a:cs typeface="Calibri" pitchFamily="34" charset="-120"/>
              </a:rPr>
              <a:t>pipeline.py --run · o POST /api/pipeline/run</a:t>
            </a:r>
            <a:endParaRPr lang="en-US" sz="2000" dirty="0"/>
          </a:p>
        </p:txBody>
      </p:sp>
      <p:sp>
        <p:nvSpPr>
          <p:cNvPr id="7" name="Shape 5"/>
          <p:cNvSpPr/>
          <p:nvPr/>
        </p:nvSpPr>
        <p:spPr>
          <a:xfrm>
            <a:off x="822960" y="3867912"/>
            <a:ext cx="914400" cy="914400"/>
          </a:xfrm>
          <a:prstGeom prst="ellipse">
            <a:avLst/>
          </a:prstGeom>
          <a:solidFill>
            <a:srgbClr val="15203D"/>
          </a:solidFill>
          <a:ln/>
        </p:spPr>
      </p:sp>
      <p:sp>
        <p:nvSpPr>
          <p:cNvPr id="8" name="Text 6"/>
          <p:cNvSpPr txBox="1"/>
          <p:nvPr/>
        </p:nvSpPr>
        <p:spPr>
          <a:xfrm>
            <a:off x="822960" y="3867912"/>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2</a:t>
            </a:r>
            <a:endParaRPr lang="en-US" sz="3400" dirty="0"/>
          </a:p>
        </p:txBody>
      </p:sp>
      <p:sp>
        <p:nvSpPr>
          <p:cNvPr id="9" name="Text 7"/>
          <p:cNvSpPr txBox="1"/>
          <p:nvPr/>
        </p:nvSpPr>
        <p:spPr>
          <a:xfrm>
            <a:off x="2011680" y="3611880"/>
            <a:ext cx="9144000" cy="594360"/>
          </a:xfrm>
          <a:prstGeom prst="rect">
            <a:avLst/>
          </a:prstGeom>
          <a:noFill/>
          <a:ln/>
        </p:spPr>
        <p:txBody>
          <a:bodyPr wrap="square" lIns="0" tIns="0" rIns="0" bIns="0" rtlCol="0" anchor="ctr"/>
          <a:lstStyle/>
          <a:p>
            <a:pPr indent="0" marL="0">
              <a:buNone/>
            </a:pPr>
            <a:r>
              <a:rPr lang="en-US" sz="2700" b="1" dirty="0">
                <a:solidFill>
                  <a:srgbClr val="15203D"/>
                </a:solidFill>
                <a:latin typeface="Calibri" pitchFamily="34" charset="0"/>
                <a:ea typeface="Calibri" pitchFamily="34" charset="-122"/>
                <a:cs typeface="Calibri" pitchFamily="34" charset="-120"/>
              </a:rPr>
              <a:t>3 empresas, cero fugas</a:t>
            </a:r>
            <a:endParaRPr lang="en-US" sz="2700" dirty="0"/>
          </a:p>
        </p:txBody>
      </p:sp>
      <p:sp>
        <p:nvSpPr>
          <p:cNvPr id="10" name="Text 8"/>
          <p:cNvSpPr txBox="1"/>
          <p:nvPr/>
        </p:nvSpPr>
        <p:spPr>
          <a:xfrm>
            <a:off x="2011680" y="4206240"/>
            <a:ext cx="9144000" cy="777240"/>
          </a:xfrm>
          <a:prstGeom prst="rect">
            <a:avLst/>
          </a:prstGeom>
          <a:noFill/>
          <a:ln/>
        </p:spPr>
        <p:txBody>
          <a:bodyPr wrap="square" lIns="0" tIns="0" rIns="0" bIns="0" rtlCol="0" anchor="ctr"/>
          <a:lstStyle/>
          <a:p>
            <a:pPr indent="0" marL="0">
              <a:buNone/>
            </a:pPr>
            <a:r>
              <a:rPr lang="en-US" sz="2000" dirty="0">
                <a:solidFill>
                  <a:srgbClr val="4A5578"/>
                </a:solidFill>
                <a:latin typeface="Calibri" pitchFamily="34" charset="0"/>
                <a:ea typeface="Calibri" pitchFamily="34" charset="-122"/>
                <a:cs typeface="Calibri" pitchFamily="34" charset="-120"/>
              </a:rPr>
              <a:t>aislamiento verificado con test automatizado</a:t>
            </a:r>
            <a:endParaRPr lang="en-US" sz="2000" dirty="0"/>
          </a:p>
        </p:txBody>
      </p:sp>
      <p:sp>
        <p:nvSpPr>
          <p:cNvPr id="11" name="Shape 9"/>
          <p:cNvSpPr/>
          <p:nvPr/>
        </p:nvSpPr>
        <p:spPr>
          <a:xfrm>
            <a:off x="822960" y="5513832"/>
            <a:ext cx="914400" cy="914400"/>
          </a:xfrm>
          <a:prstGeom prst="ellipse">
            <a:avLst/>
          </a:prstGeom>
          <a:solidFill>
            <a:srgbClr val="15203D"/>
          </a:solidFill>
          <a:ln/>
        </p:spPr>
      </p:sp>
      <p:sp>
        <p:nvSpPr>
          <p:cNvPr id="12" name="Text 10"/>
          <p:cNvSpPr txBox="1"/>
          <p:nvPr/>
        </p:nvSpPr>
        <p:spPr>
          <a:xfrm>
            <a:off x="822960" y="5513832"/>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3</a:t>
            </a:r>
            <a:endParaRPr lang="en-US" sz="3400" dirty="0"/>
          </a:p>
        </p:txBody>
      </p:sp>
      <p:sp>
        <p:nvSpPr>
          <p:cNvPr id="13" name="Text 11"/>
          <p:cNvSpPr txBox="1"/>
          <p:nvPr/>
        </p:nvSpPr>
        <p:spPr>
          <a:xfrm>
            <a:off x="2011680" y="5257800"/>
            <a:ext cx="9144000" cy="594360"/>
          </a:xfrm>
          <a:prstGeom prst="rect">
            <a:avLst/>
          </a:prstGeom>
          <a:noFill/>
          <a:ln/>
        </p:spPr>
        <p:txBody>
          <a:bodyPr wrap="square" lIns="0" tIns="0" rIns="0" bIns="0" rtlCol="0" anchor="ctr"/>
          <a:lstStyle/>
          <a:p>
            <a:pPr indent="0" marL="0">
              <a:buNone/>
            </a:pPr>
            <a:r>
              <a:rPr lang="en-US" sz="2700" b="1" dirty="0">
                <a:solidFill>
                  <a:srgbClr val="15203D"/>
                </a:solidFill>
                <a:latin typeface="Calibri" pitchFamily="34" charset="0"/>
                <a:ea typeface="Calibri" pitchFamily="34" charset="-122"/>
                <a:cs typeface="Calibri" pitchFamily="34" charset="-120"/>
              </a:rPr>
              <a:t>Cloud Run</a:t>
            </a:r>
            <a:endParaRPr lang="en-US" sz="2700" dirty="0"/>
          </a:p>
        </p:txBody>
      </p:sp>
      <p:sp>
        <p:nvSpPr>
          <p:cNvPr id="14" name="Text 12"/>
          <p:cNvSpPr txBox="1"/>
          <p:nvPr/>
        </p:nvSpPr>
        <p:spPr>
          <a:xfrm>
            <a:off x="2011680" y="5852160"/>
            <a:ext cx="9144000" cy="777240"/>
          </a:xfrm>
          <a:prstGeom prst="rect">
            <a:avLst/>
          </a:prstGeom>
          <a:noFill/>
          <a:ln/>
        </p:spPr>
        <p:txBody>
          <a:bodyPr wrap="square" lIns="0" tIns="0" rIns="0" bIns="0" rtlCol="0" anchor="ctr"/>
          <a:lstStyle/>
          <a:p>
            <a:pPr indent="0" marL="0">
              <a:buNone/>
            </a:pPr>
            <a:r>
              <a:rPr lang="en-US" sz="2000" dirty="0">
                <a:solidFill>
                  <a:srgbClr val="4A5578"/>
                </a:solidFill>
                <a:latin typeface="Calibri" pitchFamily="34" charset="0"/>
                <a:ea typeface="Calibri" pitchFamily="34" charset="-122"/>
                <a:cs typeface="Calibri" pitchFamily="34" charset="-120"/>
              </a:rPr>
              <a:t>dos servicios (API + web) con URL pública HTTPS</a:t>
            </a:r>
            <a:endParaRPr lang="en-US" sz="2000" dirty="0"/>
          </a:p>
        </p:txBody>
      </p:sp>
      <p:sp>
        <p:nvSpPr>
          <p:cNvPr id="15" name="Text 13"/>
          <p:cNvSpPr txBox="1"/>
          <p:nvPr/>
        </p:nvSpPr>
        <p:spPr>
          <a:xfrm>
            <a:off x="11155680" y="6400800"/>
            <a:ext cx="731520" cy="320040"/>
          </a:xfrm>
          <a:prstGeom prst="rect">
            <a:avLst/>
          </a:prstGeom>
          <a:noFill/>
          <a:ln/>
        </p:spPr>
        <p:txBody>
          <a:bodyPr wrap="square" lIns="0" tIns="0" rIns="0" bIns="0" rtlCol="0" anchor="ctr"/>
          <a:lstStyle/>
          <a:p>
            <a:pPr algn="r" indent="0" marL="0">
              <a:buNone/>
            </a:pPr>
            <a:r>
              <a:rPr lang="en-US" sz="1100" dirty="0">
                <a:solidFill>
                  <a:srgbClr val="9AA5BD"/>
                </a:solidFill>
                <a:latin typeface="Calibri" pitchFamily="34" charset="0"/>
                <a:ea typeface="Calibri" pitchFamily="34" charset="-122"/>
                <a:cs typeface="Calibri" pitchFamily="34" charset="-120"/>
              </a:rPr>
              <a:t>7 / 8</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203D"/>
        </a:solidFill>
      </p:bgPr>
    </p:bg>
    <p:spTree>
      <p:nvGrpSpPr>
        <p:cNvPr id="1" name=""/>
        <p:cNvGrpSpPr/>
        <p:nvPr/>
      </p:nvGrpSpPr>
      <p:grpSpPr>
        <a:xfrm>
          <a:off x="0" y="0"/>
          <a:ext cx="0" cy="0"/>
          <a:chOff x="0" y="0"/>
          <a:chExt cx="0" cy="0"/>
        </a:xfrm>
      </p:grpSpPr>
      <p:sp>
        <p:nvSpPr>
          <p:cNvPr id="2" name="Text 0"/>
          <p:cNvSpPr txBox="1"/>
          <p:nvPr/>
        </p:nvSpPr>
        <p:spPr>
          <a:xfrm>
            <a:off x="640080" y="548640"/>
            <a:ext cx="1088136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Con más tiempo</a:t>
            </a:r>
            <a:endParaRPr lang="en-US" sz="4000" dirty="0"/>
          </a:p>
        </p:txBody>
      </p:sp>
      <p:sp>
        <p:nvSpPr>
          <p:cNvPr id="3" name="Shape 1"/>
          <p:cNvSpPr/>
          <p:nvPr/>
        </p:nvSpPr>
        <p:spPr>
          <a:xfrm>
            <a:off x="640080" y="1737360"/>
            <a:ext cx="5257800" cy="1051560"/>
          </a:xfrm>
          <a:prstGeom prst="roundRect">
            <a:avLst>
              <a:gd name="adj" fmla="val 8696"/>
            </a:avLst>
          </a:prstGeom>
          <a:solidFill>
            <a:srgbClr val="1F2C52"/>
          </a:solidFill>
          <a:ln w="12700">
            <a:solidFill>
              <a:srgbClr val="CADCFC"/>
            </a:solidFill>
            <a:prstDash val="solid"/>
          </a:ln>
        </p:spPr>
      </p:sp>
      <p:sp>
        <p:nvSpPr>
          <p:cNvPr id="4" name="Text 2"/>
          <p:cNvSpPr txBox="1"/>
          <p:nvPr/>
        </p:nvSpPr>
        <p:spPr>
          <a:xfrm>
            <a:off x="960120" y="1737360"/>
            <a:ext cx="4617720" cy="10515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Auth real de asesores</a:t>
            </a:r>
            <a:endParaRPr lang="en-US" sz="2200" dirty="0"/>
          </a:p>
        </p:txBody>
      </p:sp>
      <p:sp>
        <p:nvSpPr>
          <p:cNvPr id="5" name="Shape 3"/>
          <p:cNvSpPr/>
          <p:nvPr/>
        </p:nvSpPr>
        <p:spPr>
          <a:xfrm>
            <a:off x="6217920" y="1737360"/>
            <a:ext cx="5257800" cy="1051560"/>
          </a:xfrm>
          <a:prstGeom prst="roundRect">
            <a:avLst>
              <a:gd name="adj" fmla="val 8696"/>
            </a:avLst>
          </a:prstGeom>
          <a:solidFill>
            <a:srgbClr val="1F2C52"/>
          </a:solidFill>
          <a:ln w="12700">
            <a:solidFill>
              <a:srgbClr val="CADCFC"/>
            </a:solidFill>
            <a:prstDash val="solid"/>
          </a:ln>
        </p:spPr>
      </p:sp>
      <p:sp>
        <p:nvSpPr>
          <p:cNvPr id="6" name="Text 4"/>
          <p:cNvSpPr txBox="1"/>
          <p:nvPr/>
        </p:nvSpPr>
        <p:spPr>
          <a:xfrm>
            <a:off x="6537960" y="1737360"/>
            <a:ext cx="4617720" cy="10515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Migrar a Cloud SQL</a:t>
            </a:r>
            <a:endParaRPr lang="en-US" sz="2200" dirty="0"/>
          </a:p>
        </p:txBody>
      </p:sp>
      <p:sp>
        <p:nvSpPr>
          <p:cNvPr id="7" name="Shape 5"/>
          <p:cNvSpPr/>
          <p:nvPr/>
        </p:nvSpPr>
        <p:spPr>
          <a:xfrm>
            <a:off x="640080" y="3063240"/>
            <a:ext cx="5257800" cy="1051560"/>
          </a:xfrm>
          <a:prstGeom prst="roundRect">
            <a:avLst>
              <a:gd name="adj" fmla="val 8696"/>
            </a:avLst>
          </a:prstGeom>
          <a:solidFill>
            <a:srgbClr val="1F2C52"/>
          </a:solidFill>
          <a:ln w="12700">
            <a:solidFill>
              <a:srgbClr val="CADCFC"/>
            </a:solidFill>
            <a:prstDash val="solid"/>
          </a:ln>
        </p:spPr>
      </p:sp>
      <p:sp>
        <p:nvSpPr>
          <p:cNvPr id="8" name="Text 6"/>
          <p:cNvSpPr txBox="1"/>
          <p:nvPr/>
        </p:nvSpPr>
        <p:spPr>
          <a:xfrm>
            <a:off x="960120" y="3063240"/>
            <a:ext cx="4617720" cy="10515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Re-entrenar el score con nuevos cierres</a:t>
            </a:r>
            <a:endParaRPr lang="en-US" sz="2200" dirty="0"/>
          </a:p>
        </p:txBody>
      </p:sp>
      <p:sp>
        <p:nvSpPr>
          <p:cNvPr id="9" name="Shape 7"/>
          <p:cNvSpPr/>
          <p:nvPr/>
        </p:nvSpPr>
        <p:spPr>
          <a:xfrm>
            <a:off x="6217920" y="3063240"/>
            <a:ext cx="5257800" cy="1051560"/>
          </a:xfrm>
          <a:prstGeom prst="roundRect">
            <a:avLst>
              <a:gd name="adj" fmla="val 8696"/>
            </a:avLst>
          </a:prstGeom>
          <a:solidFill>
            <a:srgbClr val="1F2C52"/>
          </a:solidFill>
          <a:ln w="12700">
            <a:solidFill>
              <a:srgbClr val="CADCFC"/>
            </a:solidFill>
            <a:prstDash val="solid"/>
          </a:ln>
        </p:spPr>
      </p:sp>
      <p:sp>
        <p:nvSpPr>
          <p:cNvPr id="10" name="Text 8"/>
          <p:cNvSpPr txBox="1"/>
          <p:nvPr/>
        </p:nvSpPr>
        <p:spPr>
          <a:xfrm>
            <a:off x="6537960" y="3063240"/>
            <a:ext cx="4617720" cy="10515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Alerta antes de las 24 h sin contacto</a:t>
            </a:r>
            <a:endParaRPr lang="en-US" sz="2200" dirty="0"/>
          </a:p>
        </p:txBody>
      </p:sp>
      <p:sp>
        <p:nvSpPr>
          <p:cNvPr id="11" name="Shape 9"/>
          <p:cNvSpPr/>
          <p:nvPr/>
        </p:nvSpPr>
        <p:spPr>
          <a:xfrm>
            <a:off x="640080" y="5074920"/>
            <a:ext cx="10881360" cy="0"/>
          </a:xfrm>
          <a:prstGeom prst="line">
            <a:avLst/>
          </a:prstGeom>
          <a:noFill/>
          <a:ln w="12700">
            <a:solidFill>
              <a:srgbClr val="CADCFC"/>
            </a:solidFill>
            <a:prstDash val="dash"/>
          </a:ln>
        </p:spPr>
      </p:sp>
      <p:sp>
        <p:nvSpPr>
          <p:cNvPr id="12" name="Text 10"/>
          <p:cNvSpPr txBox="1"/>
          <p:nvPr/>
        </p:nvSpPr>
        <p:spPr>
          <a:xfrm>
            <a:off x="640080" y="5303520"/>
            <a:ext cx="10881360" cy="548640"/>
          </a:xfrm>
          <a:prstGeom prst="rect">
            <a:avLst/>
          </a:prstGeom>
          <a:noFill/>
          <a:ln/>
        </p:spPr>
        <p:txBody>
          <a:bodyPr wrap="square" lIns="0" tIns="0" rIns="0" bIns="0" rtlCol="0" anchor="ctr"/>
          <a:lstStyle/>
          <a:p>
            <a:pPr algn="ctr" indent="0" marL="0">
              <a:buNone/>
            </a:pPr>
            <a:r>
              <a:rPr lang="en-US" sz="2000" dirty="0">
                <a:solidFill>
                  <a:srgbClr val="CADCFC"/>
                </a:solidFill>
                <a:latin typeface="Calibri" pitchFamily="34" charset="0"/>
                <a:ea typeface="Calibri" pitchFamily="34" charset="-122"/>
                <a:cs typeface="Calibri" pitchFamily="34" charset="-120"/>
              </a:rPr>
              <a:t>Aplicación: [URL pública — web]     ·     API: [URL pública — api]</a:t>
            </a:r>
            <a:endParaRPr lang="en-US" sz="2000" dirty="0"/>
          </a:p>
        </p:txBody>
      </p:sp>
      <p:sp>
        <p:nvSpPr>
          <p:cNvPr id="13" name="Text 11"/>
          <p:cNvSpPr txBox="1"/>
          <p:nvPr/>
        </p:nvSpPr>
        <p:spPr>
          <a:xfrm>
            <a:off x="640080" y="5943600"/>
            <a:ext cx="10881360" cy="640080"/>
          </a:xfrm>
          <a:prstGeom prst="rect">
            <a:avLst/>
          </a:prstGeom>
          <a:noFill/>
          <a:ln/>
        </p:spPr>
        <p:txBody>
          <a:bodyPr wrap="square" lIns="0" tIns="0" rIns="0" bIns="0" rtlCol="0" anchor="ctr"/>
          <a:lstStyle/>
          <a:p>
            <a:pPr algn="ctr" indent="0" marL="0">
              <a:buNone/>
            </a:pPr>
            <a:r>
              <a:rPr lang="en-US" sz="2600" i="1" dirty="0">
                <a:solidFill>
                  <a:srgbClr val="FFFFFF"/>
                </a:solidFill>
                <a:latin typeface="Cambria" pitchFamily="34" charset="0"/>
                <a:ea typeface="Cambria" pitchFamily="34" charset="-122"/>
                <a:cs typeface="Cambria" pitchFamily="34" charset="-120"/>
              </a:rPr>
              <a:t>Gracias — preguntas</a:t>
            </a:r>
            <a:endParaRPr lang="en-US" sz="2600" dirty="0"/>
          </a:p>
        </p:txBody>
      </p:sp>
      <p:sp>
        <p:nvSpPr>
          <p:cNvPr id="14" name="Text 12"/>
          <p:cNvSpPr txBox="1"/>
          <p:nvPr/>
        </p:nvSpPr>
        <p:spPr>
          <a:xfrm>
            <a:off x="11155680" y="6400800"/>
            <a:ext cx="731520" cy="320040"/>
          </a:xfrm>
          <a:prstGeom prst="rect">
            <a:avLst/>
          </a:prstGeom>
          <a:noFill/>
          <a:ln/>
        </p:spPr>
        <p:txBody>
          <a:bodyPr wrap="square" lIns="0" tIns="0" rIns="0" bIns="0" rtlCol="0" anchor="ctr"/>
          <a:lstStyle/>
          <a:p>
            <a:pPr algn="r" indent="0" marL="0">
              <a:buNone/>
            </a:pPr>
            <a:r>
              <a:rPr lang="en-US" sz="1100" dirty="0">
                <a:solidFill>
                  <a:srgbClr val="8FA3D6"/>
                </a:solidFill>
                <a:latin typeface="Calibri" pitchFamily="34" charset="0"/>
                <a:ea typeface="Calibri" pitchFamily="34" charset="-122"/>
                <a:cs typeface="Calibri" pitchFamily="34" charset="-120"/>
              </a:rPr>
              <a:t>8 / 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2026-09-18T02:49:54Z</dcterms:created>
  <dcterms:modified xsi:type="dcterms:W3CDTF">2026-09-18T02:49:54Z</dcterms:modified>
</cp:coreProperties>
</file>